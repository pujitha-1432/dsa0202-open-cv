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media/image3.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77" r:id="rId5"/>
    <p:sldId id="278" r:id="rId6"/>
    <p:sldId id="260" r:id="rId7"/>
    <p:sldId id="270" r:id="rId8"/>
    <p:sldId id="272" r:id="rId9"/>
    <p:sldId id="273" r:id="rId10"/>
    <p:sldId id="262" r:id="rId11"/>
    <p:sldId id="274" r:id="rId12"/>
    <p:sldId id="275" r:id="rId13"/>
    <p:sldId id="276" r:id="rId14"/>
    <p:sldId id="263" r:id="rId15"/>
    <p:sldId id="266" r:id="rId16"/>
    <p:sldId id="267" r:id="rId17"/>
    <p:sldId id="268" r:id="rId1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0BCED5-51DC-4D20-87A1-59A1833F3FD4}" v="44" dt="2026-02-13T08:39:00.0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23" autoAdjust="0"/>
  </p:normalViewPr>
  <p:slideViewPr>
    <p:cSldViewPr showGuides="1">
      <p:cViewPr varScale="1">
        <p:scale>
          <a:sx n="78" d="100"/>
          <a:sy n="78" d="100"/>
        </p:scale>
        <p:origin x="850"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A89CC0F-D608-4E8F-9A23-2C02DC248753}" type="datetimeFigureOut">
              <a:rPr lang="en-IN" smtClean="0"/>
              <a:t>27-08-2026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DDBDAA4-1137-4155-9A15-30A661E2E050}" type="slidenum">
              <a:rPr lang="en-IN" smtClean="0"/>
              <a:t>‹#›</a:t>
            </a:fld>
            <a:endParaRPr lang="en-IN"/>
          </a:p>
        </p:txBody>
      </p:sp>
    </p:spTree>
    <p:extLst>
      <p:ext uri="{BB962C8B-B14F-4D97-AF65-F5344CB8AC3E}">
        <p14:creationId xmlns:p14="http://schemas.microsoft.com/office/powerpoint/2010/main" val="4193561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DBDAA4-1137-4155-9A15-30A661E2E050}" type="slidenum">
              <a:rPr lang="en-IN" smtClean="0"/>
              <a:t>2</a:t>
            </a:fld>
            <a:endParaRPr lang="en-IN"/>
          </a:p>
        </p:txBody>
      </p:sp>
    </p:spTree>
    <p:extLst>
      <p:ext uri="{BB962C8B-B14F-4D97-AF65-F5344CB8AC3E}">
        <p14:creationId xmlns:p14="http://schemas.microsoft.com/office/powerpoint/2010/main" val="6213565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DBDAA4-1137-4155-9A15-30A661E2E050}" type="slidenum">
              <a:rPr lang="en-IN" smtClean="0"/>
              <a:t>3</a:t>
            </a:fld>
            <a:endParaRPr lang="en-IN"/>
          </a:p>
        </p:txBody>
      </p:sp>
    </p:spTree>
    <p:extLst>
      <p:ext uri="{BB962C8B-B14F-4D97-AF65-F5344CB8AC3E}">
        <p14:creationId xmlns:p14="http://schemas.microsoft.com/office/powerpoint/2010/main" val="2686527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E0F46-1AD3-777F-4871-729763D34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519B23-90B5-EBD5-2F12-5B0CDC941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7EA18B-D5AC-B5A0-963A-D2FA9462B06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75C7780-5A79-D541-3E26-B48159B64CD4}"/>
              </a:ext>
            </a:extLst>
          </p:cNvPr>
          <p:cNvSpPr>
            <a:spLocks noGrp="1"/>
          </p:cNvSpPr>
          <p:nvPr>
            <p:ph type="sldNum" sz="quarter" idx="5"/>
          </p:nvPr>
        </p:nvSpPr>
        <p:spPr/>
        <p:txBody>
          <a:bodyPr/>
          <a:lstStyle/>
          <a:p>
            <a:fld id="{1DDBDAA4-1137-4155-9A15-30A661E2E050}" type="slidenum">
              <a:rPr lang="en-IN" smtClean="0"/>
              <a:t>4</a:t>
            </a:fld>
            <a:endParaRPr lang="en-IN"/>
          </a:p>
        </p:txBody>
      </p:sp>
    </p:spTree>
    <p:extLst>
      <p:ext uri="{BB962C8B-B14F-4D97-AF65-F5344CB8AC3E}">
        <p14:creationId xmlns:p14="http://schemas.microsoft.com/office/powerpoint/2010/main" val="1226613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7B92F-2FE6-B357-32F0-FB3B89348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DACE5-67ED-9E0E-3799-65D5FEDBE3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9994C-C97A-127B-95B0-1D28AE729C1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9C8569C-020B-9796-2C1C-F5AD5267F57B}"/>
              </a:ext>
            </a:extLst>
          </p:cNvPr>
          <p:cNvSpPr>
            <a:spLocks noGrp="1"/>
          </p:cNvSpPr>
          <p:nvPr>
            <p:ph type="sldNum" sz="quarter" idx="5"/>
          </p:nvPr>
        </p:nvSpPr>
        <p:spPr/>
        <p:txBody>
          <a:bodyPr/>
          <a:lstStyle/>
          <a:p>
            <a:fld id="{1DDBDAA4-1137-4155-9A15-30A661E2E050}" type="slidenum">
              <a:rPr lang="en-IN" smtClean="0"/>
              <a:t>5</a:t>
            </a:fld>
            <a:endParaRPr lang="en-IN"/>
          </a:p>
        </p:txBody>
      </p:sp>
    </p:spTree>
    <p:extLst>
      <p:ext uri="{BB962C8B-B14F-4D97-AF65-F5344CB8AC3E}">
        <p14:creationId xmlns:p14="http://schemas.microsoft.com/office/powerpoint/2010/main" val="572881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DBDAA4-1137-4155-9A15-30A661E2E050}" type="slidenum">
              <a:rPr lang="en-IN" smtClean="0"/>
              <a:t>10</a:t>
            </a:fld>
            <a:endParaRPr lang="en-IN"/>
          </a:p>
        </p:txBody>
      </p:sp>
    </p:spTree>
    <p:extLst>
      <p:ext uri="{BB962C8B-B14F-4D97-AF65-F5344CB8AC3E}">
        <p14:creationId xmlns:p14="http://schemas.microsoft.com/office/powerpoint/2010/main" val="4244453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DBDAA4-1137-4155-9A15-30A661E2E050}" type="slidenum">
              <a:rPr lang="en-IN" smtClean="0"/>
              <a:t>14</a:t>
            </a:fld>
            <a:endParaRPr lang="en-IN"/>
          </a:p>
        </p:txBody>
      </p:sp>
    </p:spTree>
    <p:extLst>
      <p:ext uri="{BB962C8B-B14F-4D97-AF65-F5344CB8AC3E}">
        <p14:creationId xmlns:p14="http://schemas.microsoft.com/office/powerpoint/2010/main" val="13588069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DBDAA4-1137-4155-9A15-30A661E2E050}" type="slidenum">
              <a:rPr lang="en-IN" smtClean="0"/>
              <a:t>16</a:t>
            </a:fld>
            <a:endParaRPr lang="en-IN"/>
          </a:p>
        </p:txBody>
      </p:sp>
    </p:spTree>
    <p:extLst>
      <p:ext uri="{BB962C8B-B14F-4D97-AF65-F5344CB8AC3E}">
        <p14:creationId xmlns:p14="http://schemas.microsoft.com/office/powerpoint/2010/main" val="2380717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200" b="0" i="0">
                <a:solidFill>
                  <a:schemeClr val="tx1"/>
                </a:solidFill>
                <a:latin typeface="Calibri" panose="020F0502020204030204"/>
                <a:cs typeface="Calibri" panose="020F050202020403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Calibri" panose="020F0502020204030204"/>
                <a:cs typeface="Calibri" panose="020F050202020403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panose="020F0502020204030204"/>
                <a:cs typeface="Calibri" panose="020F05020202040302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18029" y="461899"/>
            <a:ext cx="7155941" cy="696594"/>
          </a:xfrm>
          <a:prstGeom prst="rect">
            <a:avLst/>
          </a:prstGeom>
        </p:spPr>
        <p:txBody>
          <a:bodyPr wrap="square" lIns="0" tIns="0" rIns="0" bIns="0">
            <a:spAutoFit/>
          </a:bodyPr>
          <a:lstStyle>
            <a:lvl1pPr>
              <a:defRPr sz="4400" b="0"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body" idx="1"/>
          </p:nvPr>
        </p:nvSpPr>
        <p:spPr>
          <a:xfrm>
            <a:off x="688340" y="1509941"/>
            <a:ext cx="6337300" cy="1782445"/>
          </a:xfrm>
          <a:prstGeom prst="rect">
            <a:avLst/>
          </a:prstGeom>
        </p:spPr>
        <p:txBody>
          <a:bodyPr wrap="square" lIns="0" tIns="0" rIns="0" bIns="0">
            <a:spAutoFit/>
          </a:bodyPr>
          <a:lstStyle>
            <a:lvl1pPr>
              <a:defRPr sz="3200" b="0" i="0">
                <a:solidFill>
                  <a:schemeClr val="tx1"/>
                </a:solidFill>
                <a:latin typeface="Calibri" panose="020F0502020204030204"/>
                <a:cs typeface="Calibri" panose="020F0502020204030204"/>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5.jpeg"/></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hyperlink" Target="https://www.ijraset.com/research-paper/ai-enhanced-surveillance-for-identifying-and-recognizing-crowd-behavior?utm_source=chatgpt.com" TargetMode="External"/><Relationship Id="rId7" Type="http://schemas.openxmlformats.org/officeDocument/2006/relationships/hyperlink" Target="https://www.mdpi.com/2078-2489/15/5/275?utm_source=chatgpt.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link.springer.com/article/10.1007/s10489-024-05775-6?utm_source=chatgpt.com" TargetMode="External"/><Relationship Id="rId5" Type="http://schemas.openxmlformats.org/officeDocument/2006/relationships/hyperlink" Target="https://eurekamag.com/research/095/956/095956485.php?utm_source=chatgpt.com" TargetMode="External"/><Relationship Id="rId4" Type="http://schemas.openxmlformats.org/officeDocument/2006/relationships/hyperlink" Target="https://pubmed.ncbi.nlm.nih.gov/34851844/?utm_source=chatgpt.com" TargetMode="External"/><Relationship Id="rId9" Type="http://schemas.openxmlformats.org/officeDocument/2006/relationships/image" Target="../media/image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28600" y="4805091"/>
            <a:ext cx="4246878" cy="2675091"/>
          </a:xfrm>
          <a:prstGeom prst="rect">
            <a:avLst/>
          </a:prstGeom>
        </p:spPr>
        <p:txBody>
          <a:bodyPr vert="horz" wrap="square" lIns="0" tIns="12700" rIns="0" bIns="0" rtlCol="0">
            <a:spAutoFit/>
          </a:bodyPr>
          <a:lstStyle/>
          <a:p>
            <a:pPr algn="ctr">
              <a:spcBef>
                <a:spcPts val="100"/>
              </a:spcBef>
            </a:pPr>
            <a:r>
              <a:rPr sz="2400" b="1" u="sng" dirty="0">
                <a:latin typeface="Times New Roman" panose="02020603050405020304" pitchFamily="18" charset="0"/>
                <a:cs typeface="Times New Roman" panose="02020603050405020304" pitchFamily="18" charset="0"/>
              </a:rPr>
              <a:t>Presented</a:t>
            </a:r>
            <a:r>
              <a:rPr sz="2400" b="1" u="sng" spc="-105" dirty="0">
                <a:latin typeface="Times New Roman" panose="02020603050405020304" pitchFamily="18" charset="0"/>
                <a:cs typeface="Times New Roman" panose="02020603050405020304" pitchFamily="18" charset="0"/>
              </a:rPr>
              <a:t> </a:t>
            </a:r>
            <a:r>
              <a:rPr sz="2400" b="1" u="sng" spc="-25" dirty="0">
                <a:latin typeface="Times New Roman" panose="02020603050405020304" pitchFamily="18" charset="0"/>
                <a:cs typeface="Times New Roman" panose="02020603050405020304" pitchFamily="18" charset="0"/>
              </a:rPr>
              <a:t>by:</a:t>
            </a:r>
            <a:endParaRPr lang="en-US" sz="2400" b="1" u="sng" spc="-25" dirty="0">
              <a:latin typeface="Times New Roman" panose="02020603050405020304" pitchFamily="18" charset="0"/>
              <a:cs typeface="Times New Roman" panose="02020603050405020304" pitchFamily="18" charset="0"/>
            </a:endParaRPr>
          </a:p>
          <a:p>
            <a:pPr algn="ctr">
              <a:spcBef>
                <a:spcPts val="100"/>
              </a:spcBef>
            </a:pPr>
            <a:r>
              <a:rPr lang="en-US" sz="2400" spc="-25" dirty="0">
                <a:latin typeface="Times New Roman" panose="02020603050405020304" pitchFamily="18" charset="0"/>
                <a:cs typeface="Times New Roman" panose="02020603050405020304" pitchFamily="18" charset="0"/>
              </a:rPr>
              <a:t>Pujitha K 	(192524149)</a:t>
            </a:r>
          </a:p>
          <a:p>
            <a:pPr algn="ctr">
              <a:spcBef>
                <a:spcPts val="100"/>
              </a:spcBef>
            </a:pPr>
            <a:r>
              <a:rPr lang="en-US" sz="2400" spc="-25" dirty="0">
                <a:latin typeface="Times New Roman" panose="02020603050405020304" pitchFamily="18" charset="0"/>
                <a:cs typeface="Times New Roman" panose="02020603050405020304" pitchFamily="18" charset="0"/>
              </a:rPr>
              <a:t>Hashini S 	(192524035)</a:t>
            </a:r>
          </a:p>
          <a:p>
            <a:pPr algn="ctr">
              <a:spcBef>
                <a:spcPts val="100"/>
              </a:spcBef>
            </a:pPr>
            <a:r>
              <a:rPr lang="en-US" sz="2400" spc="-25" dirty="0">
                <a:latin typeface="Times New Roman" panose="02020603050405020304" pitchFamily="18" charset="0"/>
                <a:cs typeface="Times New Roman" panose="02020603050405020304" pitchFamily="18" charset="0"/>
              </a:rPr>
              <a:t>Sravani B 	(192324203)</a:t>
            </a:r>
          </a:p>
          <a:p>
            <a:pPr algn="ctr">
              <a:spcBef>
                <a:spcPts val="100"/>
              </a:spcBef>
            </a:pPr>
            <a:r>
              <a:rPr lang="en-US" sz="2400" spc="-25" dirty="0">
                <a:latin typeface="Times New Roman" panose="02020603050405020304" pitchFamily="18" charset="0"/>
                <a:cs typeface="Times New Roman" panose="02020603050405020304" pitchFamily="18" charset="0"/>
              </a:rPr>
              <a:t>Hari Priya R	(192524087)</a:t>
            </a:r>
          </a:p>
          <a:p>
            <a:pPr algn="ctr">
              <a:spcBef>
                <a:spcPts val="100"/>
              </a:spcBef>
            </a:pPr>
            <a:endParaRPr lang="en-US" sz="2400" spc="-25" dirty="0">
              <a:latin typeface="Times New Roman" panose="02020603050405020304" pitchFamily="18" charset="0"/>
              <a:cs typeface="Times New Roman" panose="02020603050405020304" pitchFamily="18" charset="0"/>
            </a:endParaRPr>
          </a:p>
          <a:p>
            <a:pPr algn="ctr">
              <a:spcBef>
                <a:spcPts val="100"/>
              </a:spcBef>
            </a:pPr>
            <a:endParaRPr sz="24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325397" y="160158"/>
            <a:ext cx="1135116" cy="1342883"/>
          </a:xfrm>
          <a:prstGeom prst="rect">
            <a:avLst/>
          </a:prstGeom>
        </p:spPr>
      </p:pic>
      <p:pic>
        <p:nvPicPr>
          <p:cNvPr id="5" name="object 5"/>
          <p:cNvPicPr/>
          <p:nvPr/>
        </p:nvPicPr>
        <p:blipFill>
          <a:blip r:embed="rId3" cstate="print"/>
          <a:stretch>
            <a:fillRect/>
          </a:stretch>
        </p:blipFill>
        <p:spPr>
          <a:xfrm>
            <a:off x="10637474" y="160157"/>
            <a:ext cx="1520113" cy="1342883"/>
          </a:xfrm>
          <a:prstGeom prst="rect">
            <a:avLst/>
          </a:prstGeom>
        </p:spPr>
      </p:pic>
      <p:pic>
        <p:nvPicPr>
          <p:cNvPr id="6" name="Picture 5">
            <a:extLst>
              <a:ext uri="{FF2B5EF4-FFF2-40B4-BE49-F238E27FC236}">
                <a16:creationId xmlns:a16="http://schemas.microsoft.com/office/drawing/2014/main" id="{B34325B2-7B79-E39D-00A1-C0E1EB0BF6C0}"/>
              </a:ext>
            </a:extLst>
          </p:cNvPr>
          <p:cNvPicPr>
            <a:picLocks noChangeAspect="1"/>
          </p:cNvPicPr>
          <p:nvPr/>
        </p:nvPicPr>
        <p:blipFill>
          <a:blip r:embed="rId4"/>
          <a:srcRect l="10823"/>
          <a:stretch>
            <a:fillRect/>
          </a:stretch>
        </p:blipFill>
        <p:spPr>
          <a:xfrm>
            <a:off x="1492468" y="294639"/>
            <a:ext cx="9021763" cy="1073923"/>
          </a:xfrm>
          <a:prstGeom prst="rect">
            <a:avLst/>
          </a:prstGeom>
        </p:spPr>
      </p:pic>
      <p:sp>
        <p:nvSpPr>
          <p:cNvPr id="7" name="TextBox 6">
            <a:extLst>
              <a:ext uri="{FF2B5EF4-FFF2-40B4-BE49-F238E27FC236}">
                <a16:creationId xmlns:a16="http://schemas.microsoft.com/office/drawing/2014/main" id="{8DE305A6-4A23-C38E-CE09-41781991F22F}"/>
              </a:ext>
            </a:extLst>
          </p:cNvPr>
          <p:cNvSpPr txBox="1"/>
          <p:nvPr/>
        </p:nvSpPr>
        <p:spPr>
          <a:xfrm>
            <a:off x="1585119" y="4115924"/>
            <a:ext cx="9021762" cy="523220"/>
          </a:xfrm>
          <a:prstGeom prst="rect">
            <a:avLst/>
          </a:prstGeom>
          <a:noFill/>
        </p:spPr>
        <p:txBody>
          <a:bodyPr wrap="square" rtlCol="0">
            <a:spAutoFit/>
          </a:bodyPr>
          <a:lstStyle/>
          <a:p>
            <a:pPr algn="ctr"/>
            <a:r>
              <a:rPr lang="en-US" sz="2400" b="1" spc="30" dirty="0">
                <a:latin typeface="Times New Roman"/>
                <a:cs typeface="Times New Roman"/>
              </a:rPr>
              <a:t>DSA0202</a:t>
            </a:r>
            <a:r>
              <a:rPr lang="en-US" sz="2800" b="1" spc="30" dirty="0">
                <a:latin typeface="Times New Roman"/>
                <a:cs typeface="Times New Roman"/>
              </a:rPr>
              <a:t>-</a:t>
            </a:r>
            <a:r>
              <a:rPr lang="en-US" sz="2800" b="1" dirty="0">
                <a:latin typeface="Times New Roman" panose="02020603050405020304" pitchFamily="18" charset="0"/>
                <a:cs typeface="Times New Roman" panose="02020603050405020304" pitchFamily="18" charset="0"/>
              </a:rPr>
              <a:t>COMPUTER VISION WITH OPENCV</a:t>
            </a:r>
          </a:p>
        </p:txBody>
      </p:sp>
      <p:sp>
        <p:nvSpPr>
          <p:cNvPr id="10" name="TextBox 9">
            <a:extLst>
              <a:ext uri="{FF2B5EF4-FFF2-40B4-BE49-F238E27FC236}">
                <a16:creationId xmlns:a16="http://schemas.microsoft.com/office/drawing/2014/main" id="{DB3B5038-2AEA-5BA2-A40C-C6BC0A71FEFE}"/>
              </a:ext>
            </a:extLst>
          </p:cNvPr>
          <p:cNvSpPr txBox="1"/>
          <p:nvPr/>
        </p:nvSpPr>
        <p:spPr>
          <a:xfrm>
            <a:off x="7467600" y="5410200"/>
            <a:ext cx="4246878" cy="769441"/>
          </a:xfrm>
          <a:prstGeom prst="rect">
            <a:avLst/>
          </a:prstGeom>
          <a:noFill/>
        </p:spPr>
        <p:txBody>
          <a:bodyPr wrap="square" rtlCol="0">
            <a:spAutoFit/>
          </a:bodyPr>
          <a:lstStyle/>
          <a:p>
            <a:pPr algn="ctr"/>
            <a:r>
              <a:rPr lang="en-US" sz="2000" b="1" u="sng" dirty="0">
                <a:latin typeface="Times New Roman" panose="02020603050405020304" pitchFamily="18" charset="0"/>
                <a:cs typeface="Times New Roman" panose="02020603050405020304" pitchFamily="18" charset="0"/>
              </a:rPr>
              <a:t>GUIDE BY:</a:t>
            </a:r>
          </a:p>
          <a:p>
            <a:pPr algn="ctr"/>
            <a:r>
              <a:rPr lang="en-US" sz="2400" dirty="0">
                <a:latin typeface="Times New Roman" panose="02020603050405020304" pitchFamily="18" charset="0"/>
                <a:cs typeface="Times New Roman" panose="02020603050405020304" pitchFamily="18" charset="0"/>
              </a:rPr>
              <a:t>Dr. M. </a:t>
            </a:r>
            <a:r>
              <a:rPr lang="en-US" sz="2400" dirty="0" err="1">
                <a:latin typeface="Times New Roman" panose="02020603050405020304" pitchFamily="18" charset="0"/>
                <a:cs typeface="Times New Roman" panose="02020603050405020304" pitchFamily="18" charset="0"/>
              </a:rPr>
              <a:t>Mayuranathan</a:t>
            </a:r>
            <a:r>
              <a:rPr lang="en-US" sz="2400" dirty="0">
                <a:latin typeface="Times New Roman" panose="02020603050405020304" pitchFamily="18" charset="0"/>
                <a:cs typeface="Times New Roman" panose="02020603050405020304" pitchFamily="18" charset="0"/>
              </a:rPr>
              <a:t> </a:t>
            </a:r>
          </a:p>
        </p:txBody>
      </p:sp>
      <p:graphicFrame>
        <p:nvGraphicFramePr>
          <p:cNvPr id="9" name="Table 8">
            <a:extLst>
              <a:ext uri="{FF2B5EF4-FFF2-40B4-BE49-F238E27FC236}">
                <a16:creationId xmlns:a16="http://schemas.microsoft.com/office/drawing/2014/main" id="{37B9F0E2-E5F7-051E-1095-0EC4A3E11381}"/>
              </a:ext>
            </a:extLst>
          </p:cNvPr>
          <p:cNvGraphicFramePr>
            <a:graphicFrameLocks noGrp="1"/>
          </p:cNvGraphicFramePr>
          <p:nvPr>
            <p:extLst>
              <p:ext uri="{D42A27DB-BD31-4B8C-83A1-F6EECF244321}">
                <p14:modId xmlns:p14="http://schemas.microsoft.com/office/powerpoint/2010/main" val="1068613652"/>
              </p:ext>
            </p:extLst>
          </p:nvPr>
        </p:nvGraphicFramePr>
        <p:xfrm>
          <a:off x="1292087" y="2243971"/>
          <a:ext cx="9982200" cy="1851658"/>
        </p:xfrm>
        <a:graphic>
          <a:graphicData uri="http://schemas.openxmlformats.org/drawingml/2006/table">
            <a:tbl>
              <a:tblPr/>
              <a:tblGrid>
                <a:gridCol w="9982200">
                  <a:extLst>
                    <a:ext uri="{9D8B030D-6E8A-4147-A177-3AD203B41FA5}">
                      <a16:colId xmlns:a16="http://schemas.microsoft.com/office/drawing/2014/main" val="2941847024"/>
                    </a:ext>
                  </a:extLst>
                </a:gridCol>
              </a:tblGrid>
              <a:tr h="1851658">
                <a:tc>
                  <a:txBody>
                    <a:bodyPr/>
                    <a:lstStyle/>
                    <a:p>
                      <a:pPr algn="ctr" rtl="0" fontAlgn="ctr">
                        <a:buNone/>
                      </a:pPr>
                      <a:r>
                        <a:rPr lang="en-US" sz="3200" b="1" dirty="0">
                          <a:effectLst/>
                          <a:latin typeface="Algerian" panose="04020705040A02060702" pitchFamily="82" charset="0"/>
                        </a:rPr>
                        <a:t>An Intelligent Real-Time Crowd Dynamics Analysis and Monitoring System using Computer Vision</a:t>
                      </a:r>
                    </a:p>
                  </a:txBody>
                  <a:tcPr marL="22860" marR="22860" marT="15240" marB="1524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8589913"/>
                  </a:ext>
                </a:extLst>
              </a:tr>
            </a:tbl>
          </a:graphicData>
        </a:graphic>
      </p:graphicFrame>
      <p:sp>
        <p:nvSpPr>
          <p:cNvPr id="2" name="TextBox 1">
            <a:extLst>
              <a:ext uri="{FF2B5EF4-FFF2-40B4-BE49-F238E27FC236}">
                <a16:creationId xmlns:a16="http://schemas.microsoft.com/office/drawing/2014/main" id="{6521FC26-5713-3E56-022A-56BD468D41A5}"/>
              </a:ext>
            </a:extLst>
          </p:cNvPr>
          <p:cNvSpPr txBox="1"/>
          <p:nvPr/>
        </p:nvSpPr>
        <p:spPr>
          <a:xfrm>
            <a:off x="4267200" y="1773366"/>
            <a:ext cx="434340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CAPSTONE PROJECT</a:t>
            </a:r>
            <a:endParaRPr lang="en-IN"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71600" y="598678"/>
            <a:ext cx="9053269" cy="567463"/>
          </a:xfrm>
          <a:prstGeom prst="rect">
            <a:avLst/>
          </a:prstGeom>
        </p:spPr>
        <p:txBody>
          <a:bodyPr vert="horz" wrap="square" lIns="0" tIns="13335" rIns="0" bIns="0" rtlCol="0">
            <a:spAutoFit/>
          </a:bodyPr>
          <a:lstStyle/>
          <a:p>
            <a:pPr marL="12700" algn="ctr">
              <a:lnSpc>
                <a:spcPct val="100000"/>
              </a:lnSpc>
              <a:spcBef>
                <a:spcPts val="105"/>
              </a:spcBef>
            </a:pPr>
            <a:r>
              <a:rPr lang="en-IN" sz="3600" b="1" spc="-10" dirty="0">
                <a:latin typeface="Times New Roman" panose="02020603050405020304" pitchFamily="18" charset="0"/>
                <a:cs typeface="Times New Roman" panose="02020603050405020304" pitchFamily="18" charset="0"/>
              </a:rPr>
              <a:t>INTRODUCTION</a:t>
            </a:r>
          </a:p>
        </p:txBody>
      </p:sp>
      <p:pic>
        <p:nvPicPr>
          <p:cNvPr id="4" name="object 4"/>
          <p:cNvPicPr/>
          <p:nvPr/>
        </p:nvPicPr>
        <p:blipFill>
          <a:blip r:embed="rId3" cstate="print"/>
          <a:stretch>
            <a:fillRect/>
          </a:stretch>
        </p:blipFill>
        <p:spPr>
          <a:xfrm>
            <a:off x="357352" y="191643"/>
            <a:ext cx="1103582" cy="1342897"/>
          </a:xfrm>
          <a:prstGeom prst="rect">
            <a:avLst/>
          </a:prstGeom>
        </p:spPr>
      </p:pic>
      <p:pic>
        <p:nvPicPr>
          <p:cNvPr id="5" name="object 5"/>
          <p:cNvPicPr/>
          <p:nvPr/>
        </p:nvPicPr>
        <p:blipFill>
          <a:blip r:embed="rId4" cstate="print"/>
          <a:stretch>
            <a:fillRect/>
          </a:stretch>
        </p:blipFill>
        <p:spPr>
          <a:xfrm>
            <a:off x="10514203" y="191643"/>
            <a:ext cx="1520062" cy="1342897"/>
          </a:xfrm>
          <a:prstGeom prst="rect">
            <a:avLst/>
          </a:prstGeom>
        </p:spPr>
      </p:pic>
      <p:sp>
        <p:nvSpPr>
          <p:cNvPr id="7" name="TextBox 6">
            <a:extLst>
              <a:ext uri="{FF2B5EF4-FFF2-40B4-BE49-F238E27FC236}">
                <a16:creationId xmlns:a16="http://schemas.microsoft.com/office/drawing/2014/main" id="{AADBA531-C154-BC3D-F79F-75E2424A8821}"/>
              </a:ext>
            </a:extLst>
          </p:cNvPr>
          <p:cNvSpPr txBox="1"/>
          <p:nvPr/>
        </p:nvSpPr>
        <p:spPr>
          <a:xfrm>
            <a:off x="533400" y="1929134"/>
            <a:ext cx="11277600" cy="3785652"/>
          </a:xfrm>
          <a:prstGeom prst="rect">
            <a:avLst/>
          </a:prstGeom>
          <a:noFill/>
        </p:spPr>
        <p:txBody>
          <a:bodyPr wrap="square">
            <a:spAutoFit/>
          </a:bodyPr>
          <a:lstStyle/>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Crowd management is a major challenge in public places such as events, transportation hubs, campuses, and other crowded environments.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Manual monitoring of large crowds is difficult, time-consuming, and prone to human error.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Overcrowding and abnormal crowd movement can create serious safety risks and may lead to accidents or emergency situations.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This project uses Computer Vision to automatically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live video feeds and understand crowd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in real time.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system can detect and count people, estimate crowd density, track movement and speed, and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crowd flow direction.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2276" y="514794"/>
            <a:ext cx="7155941" cy="567463"/>
          </a:xfrm>
          <a:prstGeom prst="rect">
            <a:avLst/>
          </a:prstGeom>
        </p:spPr>
        <p:txBody>
          <a:bodyPr vert="horz" wrap="square" lIns="0" tIns="13335" rIns="0" bIns="0" rtlCol="0">
            <a:spAutoFit/>
          </a:bodyPr>
          <a:lstStyle/>
          <a:p>
            <a:pPr marL="2390140">
              <a:lnSpc>
                <a:spcPct val="100000"/>
              </a:lnSpc>
              <a:spcBef>
                <a:spcPts val="105"/>
              </a:spcBef>
            </a:pPr>
            <a:r>
              <a:rPr lang="en-IN" sz="3600" b="1" spc="-10" dirty="0">
                <a:latin typeface="Times New Roman" panose="02020603050405020304" pitchFamily="18" charset="0"/>
                <a:cs typeface="Times New Roman" panose="02020603050405020304" pitchFamily="18" charset="0"/>
              </a:rPr>
              <a:t>OBJECTIVES</a:t>
            </a:r>
          </a:p>
        </p:txBody>
      </p:sp>
      <p:sp>
        <p:nvSpPr>
          <p:cNvPr id="3" name="object 3"/>
          <p:cNvSpPr txBox="1"/>
          <p:nvPr/>
        </p:nvSpPr>
        <p:spPr>
          <a:xfrm>
            <a:off x="685800" y="1905000"/>
            <a:ext cx="11048999" cy="3369191"/>
          </a:xfrm>
          <a:prstGeom prst="rect">
            <a:avLst/>
          </a:prstGeom>
        </p:spPr>
        <p:txBody>
          <a:bodyPr vert="horz" wrap="square" lIns="0" tIns="110489" rIns="0" bIns="0" rtlCol="0">
            <a:spAutoFit/>
          </a:bodyPr>
          <a:lstStyle/>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develop a real-time crowd monitoring system using Computer Vision. </a:t>
            </a:r>
          </a:p>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detect and count individuals accurately from live video streams. </a:t>
            </a:r>
          </a:p>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estimate crowd density and identify overcrowded areas in real time. </a:t>
            </a:r>
          </a:p>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 speed, movement, and flow direction of individuals within a crowd. </a:t>
            </a:r>
          </a:p>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identify abnormal or unusual crowd movement patterns and generate timely alerts. </a:t>
            </a:r>
          </a:p>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improve public safety by providing automated and intelligent crowd monitoring.</a:t>
            </a:r>
          </a:p>
        </p:txBody>
      </p:sp>
      <p:pic>
        <p:nvPicPr>
          <p:cNvPr id="4" name="object 4"/>
          <p:cNvPicPr/>
          <p:nvPr/>
        </p:nvPicPr>
        <p:blipFill>
          <a:blip r:embed="rId3" cstate="print"/>
          <a:stretch>
            <a:fillRect/>
          </a:stretch>
        </p:blipFill>
        <p:spPr>
          <a:xfrm>
            <a:off x="357352" y="191643"/>
            <a:ext cx="1103582" cy="1342897"/>
          </a:xfrm>
          <a:prstGeom prst="rect">
            <a:avLst/>
          </a:prstGeom>
        </p:spPr>
      </p:pic>
      <p:pic>
        <p:nvPicPr>
          <p:cNvPr id="5" name="object 5"/>
          <p:cNvPicPr/>
          <p:nvPr/>
        </p:nvPicPr>
        <p:blipFill>
          <a:blip r:embed="rId4" cstate="print"/>
          <a:stretch>
            <a:fillRect/>
          </a:stretch>
        </p:blipFill>
        <p:spPr>
          <a:xfrm>
            <a:off x="10514203" y="191643"/>
            <a:ext cx="1520062" cy="134289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E6308A-676A-1335-7A45-542ADB840EA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75087C2-03E9-E025-8810-6D045312545E}"/>
              </a:ext>
            </a:extLst>
          </p:cNvPr>
          <p:cNvSpPr txBox="1"/>
          <p:nvPr/>
        </p:nvSpPr>
        <p:spPr>
          <a:xfrm>
            <a:off x="685800" y="1600200"/>
            <a:ext cx="11048999" cy="4477187"/>
          </a:xfrm>
          <a:prstGeom prst="rect">
            <a:avLst/>
          </a:prstGeom>
        </p:spPr>
        <p:txBody>
          <a:bodyPr vert="horz" wrap="square" lIns="0" tIns="110489" rIns="0" bIns="0" rtlCol="0">
            <a:spAutoFit/>
          </a:bodyPr>
          <a:lstStyle/>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Manual monitoring of large crowds is difficult, time-consuming, and inefficient. </a:t>
            </a:r>
          </a:p>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Increasing crowd density can create overcrowding and serious safety risks. </a:t>
            </a:r>
          </a:p>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is difficult for human operators to continuously track every individual in a crowded environment. </a:t>
            </a:r>
          </a:p>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Sudden changes in crowd speed, direction, or movement may indicate abnormal or potentially dangerous situations. </a:t>
            </a:r>
          </a:p>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There is a need for an automated system that can detect people, measure crowd density,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movement, and identify abnormal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in real time.</a:t>
            </a:r>
          </a:p>
        </p:txBody>
      </p:sp>
      <p:pic>
        <p:nvPicPr>
          <p:cNvPr id="4" name="object 4">
            <a:extLst>
              <a:ext uri="{FF2B5EF4-FFF2-40B4-BE49-F238E27FC236}">
                <a16:creationId xmlns:a16="http://schemas.microsoft.com/office/drawing/2014/main" id="{8BCE35E1-8606-3B01-EAB0-8B72AAEB67DC}"/>
              </a:ext>
            </a:extLst>
          </p:cNvPr>
          <p:cNvPicPr/>
          <p:nvPr/>
        </p:nvPicPr>
        <p:blipFill>
          <a:blip r:embed="rId3" cstate="print"/>
          <a:stretch>
            <a:fillRect/>
          </a:stretch>
        </p:blipFill>
        <p:spPr>
          <a:xfrm>
            <a:off x="357352" y="191643"/>
            <a:ext cx="1103582" cy="1342897"/>
          </a:xfrm>
          <a:prstGeom prst="rect">
            <a:avLst/>
          </a:prstGeom>
        </p:spPr>
      </p:pic>
      <p:pic>
        <p:nvPicPr>
          <p:cNvPr id="5" name="object 5">
            <a:extLst>
              <a:ext uri="{FF2B5EF4-FFF2-40B4-BE49-F238E27FC236}">
                <a16:creationId xmlns:a16="http://schemas.microsoft.com/office/drawing/2014/main" id="{E146E304-53E8-3A3C-FAD3-D7705106BB4E}"/>
              </a:ext>
            </a:extLst>
          </p:cNvPr>
          <p:cNvPicPr/>
          <p:nvPr/>
        </p:nvPicPr>
        <p:blipFill>
          <a:blip r:embed="rId4" cstate="print"/>
          <a:stretch>
            <a:fillRect/>
          </a:stretch>
        </p:blipFill>
        <p:spPr>
          <a:xfrm>
            <a:off x="10514203" y="191643"/>
            <a:ext cx="1520062" cy="1342897"/>
          </a:xfrm>
          <a:prstGeom prst="rect">
            <a:avLst/>
          </a:prstGeom>
        </p:spPr>
      </p:pic>
      <p:sp>
        <p:nvSpPr>
          <p:cNvPr id="7" name="TextBox 6">
            <a:extLst>
              <a:ext uri="{FF2B5EF4-FFF2-40B4-BE49-F238E27FC236}">
                <a16:creationId xmlns:a16="http://schemas.microsoft.com/office/drawing/2014/main" id="{F1BB32FA-BFAB-8BC8-1EC5-AD0CFA43E94F}"/>
              </a:ext>
            </a:extLst>
          </p:cNvPr>
          <p:cNvSpPr txBox="1"/>
          <p:nvPr/>
        </p:nvSpPr>
        <p:spPr>
          <a:xfrm>
            <a:off x="2819400" y="533400"/>
            <a:ext cx="8610600" cy="646331"/>
          </a:xfrm>
          <a:prstGeom prst="rect">
            <a:avLst/>
          </a:prstGeom>
          <a:noFill/>
        </p:spPr>
        <p:txBody>
          <a:bodyPr wrap="square">
            <a:spAutoFit/>
          </a:bodyPr>
          <a:lstStyle/>
          <a:p>
            <a:r>
              <a:rPr lang="en-IN" sz="3600" b="1" spc="-10" dirty="0">
                <a:latin typeface="Times New Roman" panose="02020603050405020304" pitchFamily="18" charset="0"/>
                <a:cs typeface="Times New Roman" panose="02020603050405020304" pitchFamily="18" charset="0"/>
              </a:rPr>
              <a:t>PROBLEM STATEMENT</a:t>
            </a:r>
            <a:endParaRPr lang="en-IN" sz="3600" dirty="0"/>
          </a:p>
        </p:txBody>
      </p:sp>
    </p:spTree>
    <p:extLst>
      <p:ext uri="{BB962C8B-B14F-4D97-AF65-F5344CB8AC3E}">
        <p14:creationId xmlns:p14="http://schemas.microsoft.com/office/powerpoint/2010/main" val="3362145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B1170F7-2C27-A7F8-47AD-27F2A9F9BFC7}"/>
            </a:ext>
          </a:extLst>
        </p:cNvPr>
        <p:cNvGrpSpPr/>
        <p:nvPr/>
      </p:nvGrpSpPr>
      <p:grpSpPr>
        <a:xfrm>
          <a:off x="0" y="0"/>
          <a:ext cx="0" cy="0"/>
          <a:chOff x="0" y="0"/>
          <a:chExt cx="0" cy="0"/>
        </a:xfrm>
      </p:grpSpPr>
      <p:pic>
        <p:nvPicPr>
          <p:cNvPr id="4" name="object 4">
            <a:extLst>
              <a:ext uri="{FF2B5EF4-FFF2-40B4-BE49-F238E27FC236}">
                <a16:creationId xmlns:a16="http://schemas.microsoft.com/office/drawing/2014/main" id="{6651F952-4824-94F8-B004-7F47E8F1DA57}"/>
              </a:ext>
            </a:extLst>
          </p:cNvPr>
          <p:cNvPicPr/>
          <p:nvPr/>
        </p:nvPicPr>
        <p:blipFill>
          <a:blip r:embed="rId3" cstate="print"/>
          <a:stretch>
            <a:fillRect/>
          </a:stretch>
        </p:blipFill>
        <p:spPr>
          <a:xfrm>
            <a:off x="230617" y="191642"/>
            <a:ext cx="1103582" cy="1342897"/>
          </a:xfrm>
          <a:prstGeom prst="rect">
            <a:avLst/>
          </a:prstGeom>
        </p:spPr>
      </p:pic>
      <p:pic>
        <p:nvPicPr>
          <p:cNvPr id="5" name="object 5">
            <a:extLst>
              <a:ext uri="{FF2B5EF4-FFF2-40B4-BE49-F238E27FC236}">
                <a16:creationId xmlns:a16="http://schemas.microsoft.com/office/drawing/2014/main" id="{F7A5BFD2-A931-183B-A2C1-8AA40CD4E73B}"/>
              </a:ext>
            </a:extLst>
          </p:cNvPr>
          <p:cNvPicPr/>
          <p:nvPr/>
        </p:nvPicPr>
        <p:blipFill>
          <a:blip r:embed="rId4" cstate="print"/>
          <a:stretch>
            <a:fillRect/>
          </a:stretch>
        </p:blipFill>
        <p:spPr>
          <a:xfrm>
            <a:off x="10514203" y="191643"/>
            <a:ext cx="1520062" cy="1342897"/>
          </a:xfrm>
          <a:prstGeom prst="rect">
            <a:avLst/>
          </a:prstGeom>
        </p:spPr>
      </p:pic>
      <p:pic>
        <p:nvPicPr>
          <p:cNvPr id="7" name="Picture 6">
            <a:extLst>
              <a:ext uri="{FF2B5EF4-FFF2-40B4-BE49-F238E27FC236}">
                <a16:creationId xmlns:a16="http://schemas.microsoft.com/office/drawing/2014/main" id="{3C24D061-2798-08A0-8224-F92286E941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24000" y="304800"/>
            <a:ext cx="8915400" cy="6477000"/>
          </a:xfrm>
          <a:prstGeom prst="rect">
            <a:avLst/>
          </a:prstGeom>
        </p:spPr>
      </p:pic>
    </p:spTree>
    <p:extLst>
      <p:ext uri="{BB962C8B-B14F-4D97-AF65-F5344CB8AC3E}">
        <p14:creationId xmlns:p14="http://schemas.microsoft.com/office/powerpoint/2010/main" val="3947609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371600" y="2286000"/>
            <a:ext cx="11196065" cy="3497110"/>
          </a:xfrm>
          <a:prstGeom prst="rect">
            <a:avLst/>
          </a:prstGeom>
        </p:spPr>
        <p:txBody>
          <a:bodyPr vert="horz" wrap="square" lIns="0" tIns="110489" rIns="0" bIns="0" rtlCol="0">
            <a:spAutoFit/>
          </a:bodyPr>
          <a:lstStyle/>
          <a:p>
            <a:pPr algn="just"/>
            <a:r>
              <a:rPr lang="en-US" sz="2000" b="1" dirty="0">
                <a:latin typeface="Times New Roman" panose="02020603050405020304" pitchFamily="18" charset="0"/>
                <a:cs typeface="Times New Roman" panose="02020603050405020304" pitchFamily="18" charset="0"/>
              </a:rPr>
              <a:t>Overview</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module focuses on detecting and locating humans in real-time video streams.</a:t>
            </a:r>
          </a:p>
          <a:p>
            <a:pPr algn="just"/>
            <a:r>
              <a:rPr lang="en-US" sz="2000" b="1" dirty="0">
                <a:latin typeface="Times New Roman" panose="02020603050405020304" pitchFamily="18" charset="0"/>
                <a:cs typeface="Times New Roman" panose="02020603050405020304" pitchFamily="18" charset="0"/>
              </a:rPr>
              <a:t>Objective</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detect every individual present in the video frame.</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generate bounding boxes around detected persons.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determine the spatial position of each person in the scene.</a:t>
            </a:r>
          </a:p>
          <a:p>
            <a:pPr algn="just"/>
            <a:r>
              <a:rPr lang="en-US" sz="2000" b="1" dirty="0">
                <a:latin typeface="Times New Roman" panose="02020603050405020304" pitchFamily="18" charset="0"/>
                <a:cs typeface="Times New Roman" panose="02020603050405020304" pitchFamily="18" charset="0"/>
              </a:rPr>
              <a:t>Methodology</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Capture live video using CCTV or camera input.</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Apply a pre-trained object detection model such as YOLO.</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Extract bounding box coordinates for each detected person.</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Store position data for further crowd analysis.</a:t>
            </a:r>
          </a:p>
        </p:txBody>
      </p:sp>
      <p:pic>
        <p:nvPicPr>
          <p:cNvPr id="4" name="object 4"/>
          <p:cNvPicPr/>
          <p:nvPr/>
        </p:nvPicPr>
        <p:blipFill>
          <a:blip r:embed="rId2" cstate="print"/>
          <a:stretch>
            <a:fillRect/>
          </a:stretch>
        </p:blipFill>
        <p:spPr>
          <a:xfrm>
            <a:off x="357352" y="191643"/>
            <a:ext cx="1103582" cy="1342897"/>
          </a:xfrm>
          <a:prstGeom prst="rect">
            <a:avLst/>
          </a:prstGeom>
        </p:spPr>
      </p:pic>
      <p:pic>
        <p:nvPicPr>
          <p:cNvPr id="5" name="object 5"/>
          <p:cNvPicPr/>
          <p:nvPr/>
        </p:nvPicPr>
        <p:blipFill>
          <a:blip r:embed="rId3" cstate="print"/>
          <a:stretch>
            <a:fillRect/>
          </a:stretch>
        </p:blipFill>
        <p:spPr>
          <a:xfrm>
            <a:off x="10514203" y="191643"/>
            <a:ext cx="1520062" cy="1342897"/>
          </a:xfrm>
          <a:prstGeom prst="rect">
            <a:avLst/>
          </a:prstGeom>
        </p:spPr>
      </p:pic>
      <p:sp>
        <p:nvSpPr>
          <p:cNvPr id="8" name="object 2">
            <a:extLst>
              <a:ext uri="{FF2B5EF4-FFF2-40B4-BE49-F238E27FC236}">
                <a16:creationId xmlns:a16="http://schemas.microsoft.com/office/drawing/2014/main" id="{C0D3251E-111D-31CD-04BF-13DB8826FB98}"/>
              </a:ext>
            </a:extLst>
          </p:cNvPr>
          <p:cNvSpPr txBox="1">
            <a:spLocks/>
          </p:cNvSpPr>
          <p:nvPr/>
        </p:nvSpPr>
        <p:spPr>
          <a:xfrm>
            <a:off x="2511059" y="191643"/>
            <a:ext cx="6953019" cy="1936055"/>
          </a:xfrm>
          <a:prstGeom prst="rect">
            <a:avLst/>
          </a:prstGeom>
        </p:spPr>
        <p:txBody>
          <a:bodyPr vert="horz" wrap="square" lIns="0" tIns="210451" rIns="0" bIns="0" rtlCol="0">
            <a:spAutoFit/>
          </a:bodyPr>
          <a:lstStyle>
            <a:lvl1pPr>
              <a:defRPr sz="4400" b="0" i="0">
                <a:solidFill>
                  <a:schemeClr val="tx1"/>
                </a:solidFill>
                <a:latin typeface="Calibri" panose="020F0502020204030204"/>
                <a:ea typeface="+mj-ea"/>
                <a:cs typeface="Calibri" panose="020F0502020204030204"/>
              </a:defRPr>
            </a:lvl1pPr>
          </a:lstStyle>
          <a:p>
            <a:pPr algn="ctr"/>
            <a:r>
              <a:rPr lang="en-US" sz="2800" b="1" dirty="0">
                <a:latin typeface="Times New Roman" panose="02020603050405020304" pitchFamily="18" charset="0"/>
                <a:cs typeface="Times New Roman" panose="02020603050405020304" pitchFamily="18" charset="0"/>
              </a:rPr>
              <a:t>MODULE 1: </a:t>
            </a:r>
          </a:p>
          <a:p>
            <a:pPr algn="ctr"/>
            <a:r>
              <a:rPr lang="en-US" sz="2800" b="1" dirty="0">
                <a:latin typeface="Times New Roman" panose="02020603050405020304" pitchFamily="18" charset="0"/>
                <a:cs typeface="Times New Roman" panose="02020603050405020304" pitchFamily="18" charset="0"/>
              </a:rPr>
              <a:t>INTELLIGENT HUMAN DETECTION AND LOCALIZATION IN REAL-TIME VIDEO STREAMS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39620" y="457200"/>
            <a:ext cx="8112759" cy="1305486"/>
          </a:xfrm>
          <a:prstGeom prst="rect">
            <a:avLst/>
          </a:prstGeom>
        </p:spPr>
        <p:txBody>
          <a:bodyPr vert="horz" wrap="square" lIns="0" tIns="12700" rIns="0" bIns="0" rtlCol="0">
            <a:spAutoFit/>
          </a:bodyPr>
          <a:lstStyle/>
          <a:p>
            <a:pPr algn="ctr"/>
            <a:r>
              <a:rPr lang="en-US" sz="2800" b="1" dirty="0">
                <a:latin typeface="Times New Roman" panose="02020603050405020304" pitchFamily="18" charset="0"/>
                <a:cs typeface="Times New Roman" panose="02020603050405020304" pitchFamily="18" charset="0"/>
              </a:rPr>
              <a:t>MODULE 2: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VISION-BASED CROWD DENSITY MEASUREMENT IN SURVEILLANCE VIDEOS</a:t>
            </a:r>
          </a:p>
        </p:txBody>
      </p:sp>
      <p:sp>
        <p:nvSpPr>
          <p:cNvPr id="3" name="object 3"/>
          <p:cNvSpPr txBox="1"/>
          <p:nvPr/>
        </p:nvSpPr>
        <p:spPr>
          <a:xfrm>
            <a:off x="1022062" y="2446287"/>
            <a:ext cx="10782218" cy="4080604"/>
          </a:xfrm>
          <a:prstGeom prst="rect">
            <a:avLst/>
          </a:prstGeom>
        </p:spPr>
        <p:txBody>
          <a:bodyPr vert="horz" wrap="square" lIns="0" tIns="78740" rIns="0" bIns="0" rtlCol="0">
            <a:spAutoFit/>
          </a:bodyPr>
          <a:lstStyle/>
          <a:p>
            <a:pPr algn="just"/>
            <a:r>
              <a:rPr lang="en-US" sz="2000" b="1" dirty="0">
                <a:latin typeface="Times New Roman" panose="02020603050405020304" pitchFamily="18" charset="0"/>
                <a:cs typeface="Times New Roman" panose="02020603050405020304" pitchFamily="18" charset="0"/>
              </a:rPr>
              <a:t>Overview</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module focuses on estimating crowd density using surveillance video footage.</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analyzes the number of people detected in each frame to determine crowd concentration levels.</a:t>
            </a:r>
          </a:p>
          <a:p>
            <a:pPr algn="just"/>
            <a:r>
              <a:rPr lang="en-US" sz="2000" b="1" dirty="0">
                <a:latin typeface="Times New Roman" panose="02020603050405020304" pitchFamily="18" charset="0"/>
                <a:cs typeface="Times New Roman" panose="02020603050405020304" pitchFamily="18" charset="0"/>
              </a:rPr>
              <a:t> Objective</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calculate the number of people present in a given area.</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classify crowd levels as low, medium, or high density.</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identify overcrowded zones in real time.</a:t>
            </a:r>
          </a:p>
          <a:p>
            <a:pPr algn="just"/>
            <a:r>
              <a:rPr lang="en-US" sz="2000" b="1" dirty="0">
                <a:latin typeface="Times New Roman" panose="02020603050405020304" pitchFamily="18" charset="0"/>
                <a:cs typeface="Times New Roman" panose="02020603050405020304" pitchFamily="18" charset="0"/>
              </a:rPr>
              <a:t>Methodology</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Use the output from the human detection module.</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Count the number of detected individuals per frame.</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Define density thresholds based on area size.</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Generate visual indicators or alerts when density exceeds safe limits.</a:t>
            </a:r>
          </a:p>
          <a:p>
            <a:pPr algn="just"/>
            <a:r>
              <a:rPr lang="en-US" sz="2000" dirty="0">
                <a:latin typeface="Times New Roman" panose="02020603050405020304" pitchFamily="18" charset="0"/>
                <a:cs typeface="Times New Roman" panose="02020603050405020304" pitchFamily="18" charset="0"/>
              </a:rPr>
              <a:t>.</a:t>
            </a:r>
          </a:p>
        </p:txBody>
      </p:sp>
      <p:pic>
        <p:nvPicPr>
          <p:cNvPr id="4" name="object 4"/>
          <p:cNvPicPr/>
          <p:nvPr/>
        </p:nvPicPr>
        <p:blipFill>
          <a:blip r:embed="rId2" cstate="print"/>
          <a:stretch>
            <a:fillRect/>
          </a:stretch>
        </p:blipFill>
        <p:spPr>
          <a:xfrm>
            <a:off x="528320" y="290296"/>
            <a:ext cx="1046479" cy="1102259"/>
          </a:xfrm>
          <a:prstGeom prst="rect">
            <a:avLst/>
          </a:prstGeom>
        </p:spPr>
      </p:pic>
      <p:pic>
        <p:nvPicPr>
          <p:cNvPr id="5" name="object 5"/>
          <p:cNvPicPr/>
          <p:nvPr/>
        </p:nvPicPr>
        <p:blipFill>
          <a:blip r:embed="rId3" cstate="print"/>
          <a:stretch>
            <a:fillRect/>
          </a:stretch>
        </p:blipFill>
        <p:spPr>
          <a:xfrm>
            <a:off x="10627359" y="191626"/>
            <a:ext cx="1406983" cy="11190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64D8-B182-7EDC-7B0C-03DDE6DB31E1}"/>
              </a:ext>
            </a:extLst>
          </p:cNvPr>
          <p:cNvSpPr>
            <a:spLocks noGrp="1"/>
          </p:cNvSpPr>
          <p:nvPr>
            <p:ph type="title"/>
          </p:nvPr>
        </p:nvSpPr>
        <p:spPr>
          <a:xfrm>
            <a:off x="2057400" y="351472"/>
            <a:ext cx="8077200" cy="1292662"/>
          </a:xfrm>
        </p:spPr>
        <p:txBody>
          <a:bodyPr/>
          <a:lstStyle/>
          <a:p>
            <a:pPr algn="ctr"/>
            <a:r>
              <a:rPr lang="en-US" sz="2800" b="1" dirty="0">
                <a:latin typeface="Times New Roman" panose="02020603050405020304" pitchFamily="18" charset="0"/>
                <a:cs typeface="Times New Roman" panose="02020603050405020304" pitchFamily="18" charset="0"/>
              </a:rPr>
              <a:t>MODULE 3:</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REAL-TIME CROWD SPEED ESTIMATION AND MOTION ANALYSIS</a:t>
            </a:r>
            <a:endParaRPr lang="en-IN" sz="28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A99DCD3-6001-2292-785F-00F3FBB45174}"/>
              </a:ext>
            </a:extLst>
          </p:cNvPr>
          <p:cNvSpPr>
            <a:spLocks noGrp="1"/>
          </p:cNvSpPr>
          <p:nvPr>
            <p:ph type="body" idx="1"/>
          </p:nvPr>
        </p:nvSpPr>
        <p:spPr>
          <a:xfrm>
            <a:off x="914400" y="2362200"/>
            <a:ext cx="10668000" cy="4616648"/>
          </a:xfrm>
        </p:spPr>
        <p:txBody>
          <a:bodyPr/>
          <a:lstStyle/>
          <a:p>
            <a:pPr algn="just"/>
            <a:r>
              <a:rPr lang="en-US" sz="2000" b="1" dirty="0">
                <a:latin typeface="Times New Roman" panose="02020603050405020304" pitchFamily="18" charset="0"/>
                <a:cs typeface="Times New Roman" panose="02020603050405020304" pitchFamily="18" charset="0"/>
              </a:rPr>
              <a:t>Overview</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module analyzes the movement and speed of individuals within a crowd using real-time video streams.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helps understand crowd flow patterns and detect unusual motion behavior.</a:t>
            </a:r>
          </a:p>
          <a:p>
            <a:pPr algn="just"/>
            <a:r>
              <a:rPr lang="en-US" sz="2000" b="1" dirty="0">
                <a:latin typeface="Times New Roman" panose="02020603050405020304" pitchFamily="18" charset="0"/>
                <a:cs typeface="Times New Roman" panose="02020603050405020304" pitchFamily="18" charset="0"/>
              </a:rPr>
              <a:t>Objective</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estimate the speed of people in the surveillance area.</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analyze crowd flow direction and movement patterns.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identify sudden changes in motion that may indicate abnormal situations.</a:t>
            </a:r>
          </a:p>
          <a:p>
            <a:pPr algn="just"/>
            <a:r>
              <a:rPr lang="en-US" sz="2000" b="1" dirty="0">
                <a:latin typeface="Times New Roman" panose="02020603050405020304" pitchFamily="18" charset="0"/>
                <a:cs typeface="Times New Roman" panose="02020603050405020304" pitchFamily="18" charset="0"/>
              </a:rPr>
              <a:t>Methodology</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Track detected individuals across consecutive video frames.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Use Optical Flow or object tracking algorithms to measure displacement.</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Calculate speed based on frame difference and time interval.</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Analyze motion trends to detect irregular crowd behavior.</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pic>
        <p:nvPicPr>
          <p:cNvPr id="4" name="object 27">
            <a:extLst>
              <a:ext uri="{FF2B5EF4-FFF2-40B4-BE49-F238E27FC236}">
                <a16:creationId xmlns:a16="http://schemas.microsoft.com/office/drawing/2014/main" id="{60B51A4D-DC0C-B26A-CFFB-C2DF43B7205C}"/>
              </a:ext>
            </a:extLst>
          </p:cNvPr>
          <p:cNvPicPr/>
          <p:nvPr/>
        </p:nvPicPr>
        <p:blipFill>
          <a:blip r:embed="rId2" cstate="print"/>
          <a:stretch>
            <a:fillRect/>
          </a:stretch>
        </p:blipFill>
        <p:spPr>
          <a:xfrm>
            <a:off x="357353" y="191626"/>
            <a:ext cx="861847" cy="1103774"/>
          </a:xfrm>
          <a:prstGeom prst="rect">
            <a:avLst/>
          </a:prstGeom>
        </p:spPr>
      </p:pic>
      <p:pic>
        <p:nvPicPr>
          <p:cNvPr id="5" name="object 5">
            <a:extLst>
              <a:ext uri="{FF2B5EF4-FFF2-40B4-BE49-F238E27FC236}">
                <a16:creationId xmlns:a16="http://schemas.microsoft.com/office/drawing/2014/main" id="{2329FA32-73C2-5213-DB35-82DC52EF3FDF}"/>
              </a:ext>
            </a:extLst>
          </p:cNvPr>
          <p:cNvPicPr/>
          <p:nvPr/>
        </p:nvPicPr>
        <p:blipFill>
          <a:blip r:embed="rId3" cstate="print"/>
          <a:stretch>
            <a:fillRect/>
          </a:stretch>
        </p:blipFill>
        <p:spPr>
          <a:xfrm>
            <a:off x="10820400" y="191626"/>
            <a:ext cx="1213942" cy="939589"/>
          </a:xfrm>
          <a:prstGeom prst="rect">
            <a:avLst/>
          </a:prstGeom>
        </p:spPr>
      </p:pic>
    </p:spTree>
    <p:extLst>
      <p:ext uri="{BB962C8B-B14F-4D97-AF65-F5344CB8AC3E}">
        <p14:creationId xmlns:p14="http://schemas.microsoft.com/office/powerpoint/2010/main" val="2101842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E41B5-D711-D10C-8A12-2C24A0C697FD}"/>
              </a:ext>
            </a:extLst>
          </p:cNvPr>
          <p:cNvSpPr>
            <a:spLocks noGrp="1"/>
          </p:cNvSpPr>
          <p:nvPr>
            <p:ph type="title"/>
          </p:nvPr>
        </p:nvSpPr>
        <p:spPr>
          <a:xfrm>
            <a:off x="2362200" y="457200"/>
            <a:ext cx="7155941" cy="1723549"/>
          </a:xfrm>
        </p:spPr>
        <p:txBody>
          <a:bodyPr/>
          <a:lstStyle/>
          <a:p>
            <a:pPr algn="ctr"/>
            <a:r>
              <a:rPr lang="en-US" sz="2800" b="1" dirty="0">
                <a:latin typeface="Times New Roman" panose="02020603050405020304" pitchFamily="18" charset="0"/>
                <a:cs typeface="Times New Roman" panose="02020603050405020304" pitchFamily="18" charset="0"/>
              </a:rPr>
              <a:t>MODULE 4: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CROWD FLOW DIRECTION AND MOVEMENT PATTERN ANALYSIS</a:t>
            </a:r>
            <a:br>
              <a:rPr lang="en-US" sz="2800" b="1"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E378166-A2C9-F260-6F70-5434B85BE4D5}"/>
              </a:ext>
            </a:extLst>
          </p:cNvPr>
          <p:cNvSpPr>
            <a:spLocks noGrp="1"/>
          </p:cNvSpPr>
          <p:nvPr>
            <p:ph type="body" idx="1"/>
          </p:nvPr>
        </p:nvSpPr>
        <p:spPr>
          <a:xfrm>
            <a:off x="1319866" y="2399705"/>
            <a:ext cx="10107064" cy="4001095"/>
          </a:xfrm>
        </p:spPr>
        <p:txBody>
          <a:bodyPr/>
          <a:lstStyle/>
          <a:p>
            <a:pPr algn="just"/>
            <a:r>
              <a:rPr lang="en-US" sz="2000" b="1" dirty="0">
                <a:latin typeface="Times New Roman" panose="02020603050405020304" pitchFamily="18" charset="0"/>
                <a:cs typeface="Times New Roman" panose="02020603050405020304" pitchFamily="18" charset="0"/>
              </a:rPr>
              <a:t>Overview</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module focuses on analyzing the overall direction and movement patterns of the crowd in real time.</a:t>
            </a:r>
          </a:p>
          <a:p>
            <a:pPr algn="just"/>
            <a:r>
              <a:rPr lang="en-US" sz="2000" b="1" dirty="0">
                <a:latin typeface="Times New Roman" panose="02020603050405020304" pitchFamily="18" charset="0"/>
                <a:cs typeface="Times New Roman" panose="02020603050405020304" pitchFamily="18" charset="0"/>
              </a:rPr>
              <a:t>Objective</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determine the dominant flow direction of the crowd.</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analyze movement patterns over time.</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detect unusual or conflicting movement directions.</a:t>
            </a:r>
          </a:p>
          <a:p>
            <a:pPr algn="just"/>
            <a:r>
              <a:rPr lang="en-US" sz="2000" b="1" dirty="0">
                <a:latin typeface="Times New Roman" panose="02020603050405020304" pitchFamily="18" charset="0"/>
                <a:cs typeface="Times New Roman" panose="02020603050405020304" pitchFamily="18" charset="0"/>
              </a:rPr>
              <a:t>Methodology</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Track multiple individuals across consecutive frames.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Use Optical Flow or motion vector analysis to determine direction.</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Visualize flow using arrows or heatmaps.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Compare current movement patterns with normal behavior patterns.</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pic>
        <p:nvPicPr>
          <p:cNvPr id="4" name="object 27">
            <a:extLst>
              <a:ext uri="{FF2B5EF4-FFF2-40B4-BE49-F238E27FC236}">
                <a16:creationId xmlns:a16="http://schemas.microsoft.com/office/drawing/2014/main" id="{3BC8C196-9503-BD55-0902-AB2FBAD6AC74}"/>
              </a:ext>
            </a:extLst>
          </p:cNvPr>
          <p:cNvPicPr/>
          <p:nvPr/>
        </p:nvPicPr>
        <p:blipFill>
          <a:blip r:embed="rId2" cstate="print"/>
          <a:stretch>
            <a:fillRect/>
          </a:stretch>
        </p:blipFill>
        <p:spPr>
          <a:xfrm>
            <a:off x="533400" y="167639"/>
            <a:ext cx="811047" cy="939589"/>
          </a:xfrm>
          <a:prstGeom prst="rect">
            <a:avLst/>
          </a:prstGeom>
        </p:spPr>
      </p:pic>
      <p:pic>
        <p:nvPicPr>
          <p:cNvPr id="5" name="object 5">
            <a:extLst>
              <a:ext uri="{FF2B5EF4-FFF2-40B4-BE49-F238E27FC236}">
                <a16:creationId xmlns:a16="http://schemas.microsoft.com/office/drawing/2014/main" id="{B45EF02C-8A9F-85EE-66BF-29B67C267D7E}"/>
              </a:ext>
            </a:extLst>
          </p:cNvPr>
          <p:cNvPicPr/>
          <p:nvPr/>
        </p:nvPicPr>
        <p:blipFill>
          <a:blip r:embed="rId3" cstate="print"/>
          <a:stretch>
            <a:fillRect/>
          </a:stretch>
        </p:blipFill>
        <p:spPr>
          <a:xfrm>
            <a:off x="10744200" y="152399"/>
            <a:ext cx="1090447" cy="914401"/>
          </a:xfrm>
          <a:prstGeom prst="rect">
            <a:avLst/>
          </a:prstGeom>
        </p:spPr>
      </p:pic>
    </p:spTree>
    <p:extLst>
      <p:ext uri="{BB962C8B-B14F-4D97-AF65-F5344CB8AC3E}">
        <p14:creationId xmlns:p14="http://schemas.microsoft.com/office/powerpoint/2010/main" val="2609028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429869"/>
            <a:ext cx="9296400" cy="1121461"/>
          </a:xfrm>
          <a:prstGeom prst="rect">
            <a:avLst/>
          </a:prstGeom>
        </p:spPr>
        <p:txBody>
          <a:bodyPr vert="horz" wrap="square" lIns="0" tIns="13335" rIns="0" bIns="0" rtlCol="0">
            <a:spAutoFit/>
          </a:bodyPr>
          <a:lstStyle/>
          <a:p>
            <a:pPr marL="1751330" algn="ctr">
              <a:lnSpc>
                <a:spcPct val="100000"/>
              </a:lnSpc>
              <a:spcBef>
                <a:spcPts val="105"/>
              </a:spcBef>
            </a:pPr>
            <a:r>
              <a:rPr lang="en-IN" sz="3600" b="1" spc="-10" dirty="0">
                <a:solidFill>
                  <a:srgbClr val="FF0000"/>
                </a:solidFill>
                <a:latin typeface="Times New Roman" panose="02020603050405020304" pitchFamily="18" charset="0"/>
                <a:cs typeface="Times New Roman" panose="02020603050405020304" pitchFamily="18" charset="0"/>
              </a:rPr>
              <a:t>IMPLEMENTATION</a:t>
            </a:r>
            <a:br>
              <a:rPr lang="en-IN" sz="3600" b="1" spc="-10" dirty="0">
                <a:latin typeface="Times New Roman" panose="02020603050405020304" pitchFamily="18" charset="0"/>
                <a:cs typeface="Times New Roman" panose="02020603050405020304" pitchFamily="18" charset="0"/>
              </a:rPr>
            </a:br>
            <a:r>
              <a:rPr lang="en-IN" sz="3600" b="1" spc="-10" dirty="0">
                <a:latin typeface="Times New Roman" panose="02020603050405020304" pitchFamily="18" charset="0"/>
                <a:cs typeface="Times New Roman" panose="02020603050405020304" pitchFamily="18" charset="0"/>
              </a:rPr>
              <a:t>MODULE 1-PERSON DETECTION</a:t>
            </a:r>
          </a:p>
        </p:txBody>
      </p:sp>
      <p:pic>
        <p:nvPicPr>
          <p:cNvPr id="4" name="object 4"/>
          <p:cNvPicPr/>
          <p:nvPr/>
        </p:nvPicPr>
        <p:blipFill>
          <a:blip r:embed="rId3" cstate="print"/>
          <a:stretch>
            <a:fillRect/>
          </a:stretch>
        </p:blipFill>
        <p:spPr>
          <a:xfrm>
            <a:off x="152400" y="143661"/>
            <a:ext cx="914400" cy="999339"/>
          </a:xfrm>
          <a:prstGeom prst="rect">
            <a:avLst/>
          </a:prstGeom>
        </p:spPr>
      </p:pic>
      <p:pic>
        <p:nvPicPr>
          <p:cNvPr id="5" name="object 5"/>
          <p:cNvPicPr/>
          <p:nvPr/>
        </p:nvPicPr>
        <p:blipFill>
          <a:blip r:embed="rId4" cstate="print"/>
          <a:stretch>
            <a:fillRect/>
          </a:stretch>
        </p:blipFill>
        <p:spPr>
          <a:xfrm>
            <a:off x="10820399" y="143661"/>
            <a:ext cx="1213865" cy="846939"/>
          </a:xfrm>
          <a:prstGeom prst="rect">
            <a:avLst/>
          </a:prstGeom>
        </p:spPr>
      </p:pic>
      <p:pic>
        <p:nvPicPr>
          <p:cNvPr id="6" name="Picture 5">
            <a:extLst>
              <a:ext uri="{FF2B5EF4-FFF2-40B4-BE49-F238E27FC236}">
                <a16:creationId xmlns:a16="http://schemas.microsoft.com/office/drawing/2014/main" id="{335FCF07-923B-0C35-A0CE-C2811CF2C8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81200" y="1753217"/>
            <a:ext cx="8229600" cy="495238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6E7D2-9300-6070-FC74-22DFF781C718}"/>
              </a:ext>
            </a:extLst>
          </p:cNvPr>
          <p:cNvSpPr>
            <a:spLocks noGrp="1"/>
          </p:cNvSpPr>
          <p:nvPr>
            <p:ph type="title"/>
          </p:nvPr>
        </p:nvSpPr>
        <p:spPr>
          <a:xfrm>
            <a:off x="2133600" y="384421"/>
            <a:ext cx="8915400" cy="553998"/>
          </a:xfrm>
        </p:spPr>
        <p:txBody>
          <a:bodyPr/>
          <a:lstStyle/>
          <a:p>
            <a:r>
              <a:rPr lang="en-US" sz="3600" b="1" dirty="0">
                <a:latin typeface="Times New Roman" panose="02020603050405020304" pitchFamily="18" charset="0"/>
                <a:cs typeface="Times New Roman" panose="02020603050405020304" pitchFamily="18" charset="0"/>
              </a:rPr>
              <a:t>MODULE 2-DENSITY DETECTION</a:t>
            </a:r>
            <a:endParaRPr lang="en-IN" sz="36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CE9D026-9D71-093B-8E80-2BD3D1614A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1131214"/>
            <a:ext cx="7460741" cy="5518256"/>
          </a:xfrm>
          <a:prstGeom prst="rect">
            <a:avLst/>
          </a:prstGeom>
        </p:spPr>
      </p:pic>
      <p:pic>
        <p:nvPicPr>
          <p:cNvPr id="6" name="object 4"/>
          <p:cNvPicPr/>
          <p:nvPr/>
        </p:nvPicPr>
        <p:blipFill>
          <a:blip r:embed="rId3" cstate="print"/>
          <a:stretch>
            <a:fillRect/>
          </a:stretch>
        </p:blipFill>
        <p:spPr>
          <a:xfrm>
            <a:off x="134009" y="28704"/>
            <a:ext cx="932791" cy="967850"/>
          </a:xfrm>
          <a:prstGeom prst="rect">
            <a:avLst/>
          </a:prstGeom>
        </p:spPr>
      </p:pic>
      <p:pic>
        <p:nvPicPr>
          <p:cNvPr id="7" name="object 5">
            <a:extLst>
              <a:ext uri="{FF2B5EF4-FFF2-40B4-BE49-F238E27FC236}">
                <a16:creationId xmlns:a16="http://schemas.microsoft.com/office/drawing/2014/main" id="{2329FA32-73C2-5213-DB35-82DC52EF3FDF}"/>
              </a:ext>
            </a:extLst>
          </p:cNvPr>
          <p:cNvPicPr/>
          <p:nvPr/>
        </p:nvPicPr>
        <p:blipFill>
          <a:blip r:embed="rId4" cstate="print"/>
          <a:stretch>
            <a:fillRect/>
          </a:stretch>
        </p:blipFill>
        <p:spPr>
          <a:xfrm>
            <a:off x="10820400" y="191626"/>
            <a:ext cx="1213942" cy="939589"/>
          </a:xfrm>
          <a:prstGeom prst="rect">
            <a:avLst/>
          </a:prstGeom>
        </p:spPr>
      </p:pic>
    </p:spTree>
    <p:extLst>
      <p:ext uri="{BB962C8B-B14F-4D97-AF65-F5344CB8AC3E}">
        <p14:creationId xmlns:p14="http://schemas.microsoft.com/office/powerpoint/2010/main" val="2622705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2596C-DE33-4BBE-474D-B90138222C1B}"/>
              </a:ext>
            </a:extLst>
          </p:cNvPr>
          <p:cNvSpPr>
            <a:spLocks noGrp="1"/>
          </p:cNvSpPr>
          <p:nvPr>
            <p:ph type="title"/>
          </p:nvPr>
        </p:nvSpPr>
        <p:spPr>
          <a:xfrm>
            <a:off x="2514600" y="384421"/>
            <a:ext cx="7924800" cy="553998"/>
          </a:xfrm>
        </p:spPr>
        <p:txBody>
          <a:bodyPr/>
          <a:lstStyle/>
          <a:p>
            <a:r>
              <a:rPr lang="en-US" sz="3600" b="1" dirty="0">
                <a:latin typeface="Times New Roman" panose="02020603050405020304" pitchFamily="18" charset="0"/>
                <a:cs typeface="Times New Roman" panose="02020603050405020304" pitchFamily="18" charset="0"/>
              </a:rPr>
              <a:t>MODULE 3-SPEED DETECTION</a:t>
            </a:r>
            <a:endParaRPr lang="en-IN" sz="36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1687F42-4151-685E-0B80-3E1E2778D3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1160762"/>
            <a:ext cx="7232141" cy="5442514"/>
          </a:xfrm>
          <a:prstGeom prst="rect">
            <a:avLst/>
          </a:prstGeom>
        </p:spPr>
      </p:pic>
      <p:pic>
        <p:nvPicPr>
          <p:cNvPr id="6" name="object 4"/>
          <p:cNvPicPr/>
          <p:nvPr/>
        </p:nvPicPr>
        <p:blipFill>
          <a:blip r:embed="rId3" cstate="print"/>
          <a:stretch>
            <a:fillRect/>
          </a:stretch>
        </p:blipFill>
        <p:spPr>
          <a:xfrm>
            <a:off x="134009" y="28704"/>
            <a:ext cx="932791" cy="967850"/>
          </a:xfrm>
          <a:prstGeom prst="rect">
            <a:avLst/>
          </a:prstGeom>
        </p:spPr>
      </p:pic>
      <p:pic>
        <p:nvPicPr>
          <p:cNvPr id="7" name="object 5">
            <a:extLst>
              <a:ext uri="{FF2B5EF4-FFF2-40B4-BE49-F238E27FC236}">
                <a16:creationId xmlns:a16="http://schemas.microsoft.com/office/drawing/2014/main" id="{2329FA32-73C2-5213-DB35-82DC52EF3FDF}"/>
              </a:ext>
            </a:extLst>
          </p:cNvPr>
          <p:cNvPicPr/>
          <p:nvPr/>
        </p:nvPicPr>
        <p:blipFill>
          <a:blip r:embed="rId4" cstate="print"/>
          <a:stretch>
            <a:fillRect/>
          </a:stretch>
        </p:blipFill>
        <p:spPr>
          <a:xfrm>
            <a:off x="10820400" y="191626"/>
            <a:ext cx="1213942" cy="939589"/>
          </a:xfrm>
          <a:prstGeom prst="rect">
            <a:avLst/>
          </a:prstGeom>
        </p:spPr>
      </p:pic>
    </p:spTree>
    <p:extLst>
      <p:ext uri="{BB962C8B-B14F-4D97-AF65-F5344CB8AC3E}">
        <p14:creationId xmlns:p14="http://schemas.microsoft.com/office/powerpoint/2010/main" val="1737472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C6F91-BFD4-BCCE-1375-4D86812B7559}"/>
              </a:ext>
            </a:extLst>
          </p:cNvPr>
          <p:cNvSpPr>
            <a:spLocks noGrp="1"/>
          </p:cNvSpPr>
          <p:nvPr>
            <p:ph type="title"/>
          </p:nvPr>
        </p:nvSpPr>
        <p:spPr>
          <a:xfrm>
            <a:off x="1948378" y="350749"/>
            <a:ext cx="9636651" cy="553998"/>
          </a:xfrm>
        </p:spPr>
        <p:txBody>
          <a:bodyPr/>
          <a:lstStyle/>
          <a:p>
            <a:r>
              <a:rPr lang="en-US" sz="3600" b="1" dirty="0">
                <a:latin typeface="Times New Roman" panose="02020603050405020304" pitchFamily="18" charset="0"/>
                <a:cs typeface="Times New Roman" panose="02020603050405020304" pitchFamily="18" charset="0"/>
              </a:rPr>
              <a:t>MODULE 4-ANOMOLY DETECTION</a:t>
            </a:r>
            <a:endParaRPr lang="en-IN" sz="36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14F8462-A913-CF9C-786D-53181FFDAB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1066800"/>
            <a:ext cx="7924800" cy="5410200"/>
          </a:xfrm>
          <a:prstGeom prst="rect">
            <a:avLst/>
          </a:prstGeom>
        </p:spPr>
      </p:pic>
      <p:pic>
        <p:nvPicPr>
          <p:cNvPr id="6" name="object 4"/>
          <p:cNvPicPr/>
          <p:nvPr/>
        </p:nvPicPr>
        <p:blipFill>
          <a:blip r:embed="rId3" cstate="print"/>
          <a:stretch>
            <a:fillRect/>
          </a:stretch>
        </p:blipFill>
        <p:spPr>
          <a:xfrm>
            <a:off x="37322" y="19051"/>
            <a:ext cx="856591" cy="885696"/>
          </a:xfrm>
          <a:prstGeom prst="rect">
            <a:avLst/>
          </a:prstGeom>
        </p:spPr>
      </p:pic>
      <p:pic>
        <p:nvPicPr>
          <p:cNvPr id="7" name="object 5">
            <a:extLst>
              <a:ext uri="{FF2B5EF4-FFF2-40B4-BE49-F238E27FC236}">
                <a16:creationId xmlns:a16="http://schemas.microsoft.com/office/drawing/2014/main" id="{2329FA32-73C2-5213-DB35-82DC52EF3FDF}"/>
              </a:ext>
            </a:extLst>
          </p:cNvPr>
          <p:cNvPicPr/>
          <p:nvPr/>
        </p:nvPicPr>
        <p:blipFill>
          <a:blip r:embed="rId4" cstate="print"/>
          <a:stretch>
            <a:fillRect/>
          </a:stretch>
        </p:blipFill>
        <p:spPr>
          <a:xfrm>
            <a:off x="10978058" y="-7896"/>
            <a:ext cx="1213942" cy="939589"/>
          </a:xfrm>
          <a:prstGeom prst="rect">
            <a:avLst/>
          </a:prstGeom>
        </p:spPr>
      </p:pic>
    </p:spTree>
    <p:extLst>
      <p:ext uri="{BB962C8B-B14F-4D97-AF65-F5344CB8AC3E}">
        <p14:creationId xmlns:p14="http://schemas.microsoft.com/office/powerpoint/2010/main" val="961393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8029" y="461899"/>
            <a:ext cx="7155941" cy="567463"/>
          </a:xfrm>
          <a:prstGeom prst="rect">
            <a:avLst/>
          </a:prstGeom>
        </p:spPr>
        <p:txBody>
          <a:bodyPr vert="horz" wrap="square" lIns="0" tIns="13335" rIns="0" bIns="0" rtlCol="0">
            <a:spAutoFit/>
          </a:bodyPr>
          <a:lstStyle/>
          <a:p>
            <a:pPr marL="1261110">
              <a:lnSpc>
                <a:spcPct val="100000"/>
              </a:lnSpc>
              <a:spcBef>
                <a:spcPts val="105"/>
              </a:spcBef>
            </a:pPr>
            <a:r>
              <a:rPr lang="en-US" sz="3600" b="1" dirty="0">
                <a:latin typeface="Times New Roman" panose="02020603050405020304" pitchFamily="18" charset="0"/>
                <a:cs typeface="Times New Roman" panose="02020603050405020304" pitchFamily="18" charset="0"/>
              </a:rPr>
              <a:t>FINAL OUTPUT</a:t>
            </a:r>
            <a:endParaRPr lang="en-US" sz="3600" b="1" spc="-1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3" cstate="print"/>
          <a:stretch>
            <a:fillRect/>
          </a:stretch>
        </p:blipFill>
        <p:spPr>
          <a:xfrm>
            <a:off x="152400" y="152400"/>
            <a:ext cx="762000" cy="1006093"/>
          </a:xfrm>
          <a:prstGeom prst="rect">
            <a:avLst/>
          </a:prstGeom>
        </p:spPr>
      </p:pic>
      <p:pic>
        <p:nvPicPr>
          <p:cNvPr id="5" name="object 5"/>
          <p:cNvPicPr/>
          <p:nvPr/>
        </p:nvPicPr>
        <p:blipFill>
          <a:blip r:embed="rId4" cstate="print"/>
          <a:stretch>
            <a:fillRect/>
          </a:stretch>
        </p:blipFill>
        <p:spPr>
          <a:xfrm>
            <a:off x="10896600" y="123825"/>
            <a:ext cx="1137664" cy="966850"/>
          </a:xfrm>
          <a:prstGeom prst="rect">
            <a:avLst/>
          </a:prstGeom>
        </p:spPr>
      </p:pic>
      <p:pic>
        <p:nvPicPr>
          <p:cNvPr id="6" name="Picture 5">
            <a:extLst>
              <a:ext uri="{FF2B5EF4-FFF2-40B4-BE49-F238E27FC236}">
                <a16:creationId xmlns:a16="http://schemas.microsoft.com/office/drawing/2014/main" id="{B8340B39-65BB-3D28-DB52-20F06E8991ED}"/>
              </a:ext>
            </a:extLst>
          </p:cNvPr>
          <p:cNvPicPr>
            <a:picLocks noChangeAspect="1"/>
          </p:cNvPicPr>
          <p:nvPr/>
        </p:nvPicPr>
        <p:blipFill>
          <a:blip r:embed="rId5"/>
          <a:stretch>
            <a:fillRect/>
          </a:stretch>
        </p:blipFill>
        <p:spPr>
          <a:xfrm>
            <a:off x="1707408" y="1976501"/>
            <a:ext cx="8777183" cy="4419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8400" y="533400"/>
            <a:ext cx="7155941" cy="696594"/>
          </a:xfrm>
          <a:prstGeom prst="rect">
            <a:avLst/>
          </a:prstGeom>
        </p:spPr>
        <p:txBody>
          <a:bodyPr vert="horz" wrap="square" lIns="0" tIns="13335" rIns="0" bIns="0" rtlCol="0">
            <a:spAutoFit/>
          </a:bodyPr>
          <a:lstStyle/>
          <a:p>
            <a:pPr marL="2335530">
              <a:lnSpc>
                <a:spcPct val="100000"/>
              </a:lnSpc>
              <a:spcBef>
                <a:spcPts val="105"/>
              </a:spcBef>
            </a:pPr>
            <a:r>
              <a:rPr lang="en-IN" b="1" spc="-10" dirty="0">
                <a:latin typeface="Times New Roman" panose="02020603050405020304" pitchFamily="18" charset="0"/>
                <a:cs typeface="Times New Roman" panose="02020603050405020304" pitchFamily="18" charset="0"/>
              </a:rPr>
              <a:t>CONCLUSION</a:t>
            </a:r>
          </a:p>
        </p:txBody>
      </p:sp>
      <p:sp>
        <p:nvSpPr>
          <p:cNvPr id="3" name="object 3"/>
          <p:cNvSpPr txBox="1"/>
          <p:nvPr/>
        </p:nvSpPr>
        <p:spPr>
          <a:xfrm>
            <a:off x="685800" y="2133600"/>
            <a:ext cx="10820400" cy="3158556"/>
          </a:xfrm>
          <a:prstGeom prst="rect">
            <a:avLst/>
          </a:prstGeom>
        </p:spPr>
        <p:txBody>
          <a:bodyPr vert="horz" wrap="square" lIns="0" tIns="110489" rIns="0" bIns="0" rtlCol="0">
            <a:spAutoFit/>
          </a:bodyPr>
          <a:lstStyle/>
          <a:p>
            <a:pPr algn="just"/>
            <a:r>
              <a:rPr lang="en-US" sz="2200" dirty="0">
                <a:latin typeface="Times New Roman" panose="02020603050405020304" pitchFamily="18" charset="0"/>
                <a:cs typeface="Times New Roman" panose="02020603050405020304" pitchFamily="18" charset="0"/>
              </a:rPr>
              <a:t>The proposed Intelligent Real-Time Crowd Dynamics Analysis and Monitoring System effectively integrates computer vision techniques to detect, analyze, and monitor crowd behavior in real time. By combining human detection, density estimation, speed tracking, and flow direction analysis, the system enhances public safety, event management, and urban planning.</a:t>
            </a:r>
          </a:p>
          <a:p>
            <a:pPr algn="just"/>
            <a:r>
              <a:rPr lang="en-US" sz="2200" dirty="0">
                <a:latin typeface="Times New Roman" panose="02020603050405020304" pitchFamily="18" charset="0"/>
                <a:cs typeface="Times New Roman" panose="02020603050405020304" pitchFamily="18" charset="0"/>
              </a:rPr>
              <a:t>Although challenges such as occlusion, lighting variations, and computational complexity exist, optimized models and proper hardware support can significantly improve performance. Overall, the system provides a scalable and intelligent solution for modern surveillance and crowd management applications</a:t>
            </a:r>
          </a:p>
        </p:txBody>
      </p:sp>
      <p:pic>
        <p:nvPicPr>
          <p:cNvPr id="4" name="object 4"/>
          <p:cNvPicPr/>
          <p:nvPr/>
        </p:nvPicPr>
        <p:blipFill>
          <a:blip r:embed="rId2" cstate="print"/>
          <a:stretch>
            <a:fillRect/>
          </a:stretch>
        </p:blipFill>
        <p:spPr>
          <a:xfrm>
            <a:off x="207320" y="191643"/>
            <a:ext cx="1103582" cy="1179957"/>
          </a:xfrm>
          <a:prstGeom prst="rect">
            <a:avLst/>
          </a:prstGeom>
        </p:spPr>
      </p:pic>
      <p:pic>
        <p:nvPicPr>
          <p:cNvPr id="5" name="object 5"/>
          <p:cNvPicPr/>
          <p:nvPr/>
        </p:nvPicPr>
        <p:blipFill>
          <a:blip r:embed="rId3" cstate="print"/>
          <a:stretch>
            <a:fillRect/>
          </a:stretch>
        </p:blipFill>
        <p:spPr>
          <a:xfrm>
            <a:off x="10820400" y="228600"/>
            <a:ext cx="1213864" cy="1143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7400" y="509525"/>
            <a:ext cx="7155941" cy="567463"/>
          </a:xfrm>
          <a:prstGeom prst="rect">
            <a:avLst/>
          </a:prstGeom>
        </p:spPr>
        <p:txBody>
          <a:bodyPr vert="horz" wrap="square" lIns="0" tIns="13335" rIns="0" bIns="0" rtlCol="0">
            <a:spAutoFit/>
          </a:bodyPr>
          <a:lstStyle/>
          <a:p>
            <a:pPr marL="2329180">
              <a:lnSpc>
                <a:spcPct val="100000"/>
              </a:lnSpc>
              <a:spcBef>
                <a:spcPts val="105"/>
              </a:spcBef>
            </a:pPr>
            <a:r>
              <a:rPr lang="en-IN" sz="3600" b="1" spc="-25" dirty="0">
                <a:latin typeface="Times New Roman" panose="02020603050405020304" pitchFamily="18" charset="0"/>
                <a:cs typeface="Times New Roman" panose="02020603050405020304" pitchFamily="18" charset="0"/>
              </a:rPr>
              <a:t>REFERENCES</a:t>
            </a:r>
          </a:p>
        </p:txBody>
      </p:sp>
      <p:sp>
        <p:nvSpPr>
          <p:cNvPr id="3" name="object 3"/>
          <p:cNvSpPr txBox="1"/>
          <p:nvPr/>
        </p:nvSpPr>
        <p:spPr>
          <a:xfrm>
            <a:off x="609600" y="1524000"/>
            <a:ext cx="11049000" cy="5184111"/>
          </a:xfrm>
          <a:prstGeom prst="rect">
            <a:avLst/>
          </a:prstGeom>
        </p:spPr>
        <p:txBody>
          <a:bodyPr vert="horz" wrap="square" lIns="0" tIns="13335" rIns="0" bIns="0" rtlCol="0">
            <a:spAutoFit/>
          </a:bodyPr>
          <a:lstStyle/>
          <a:p>
            <a:pPr marL="342900" indent="-342900" algn="just">
              <a:buFont typeface="Wingdings" panose="05000000000000000000" pitchFamily="2" charset="2"/>
              <a:buChar char="Ø"/>
            </a:pPr>
            <a:r>
              <a:rPr lang="en-IN" sz="2100" b="1" dirty="0">
                <a:latin typeface="Times New Roman" panose="02020603050405020304" pitchFamily="18" charset="0"/>
                <a:cs typeface="Times New Roman" panose="02020603050405020304" pitchFamily="18" charset="0"/>
              </a:rPr>
              <a:t>Prakash, B. S., </a:t>
            </a:r>
            <a:r>
              <a:rPr lang="en-IN" sz="2100" b="1" dirty="0" err="1">
                <a:latin typeface="Times New Roman" panose="02020603050405020304" pitchFamily="18" charset="0"/>
                <a:cs typeface="Times New Roman" panose="02020603050405020304" pitchFamily="18" charset="0"/>
              </a:rPr>
              <a:t>Tamilsudar</a:t>
            </a:r>
            <a:r>
              <a:rPr lang="en-IN" sz="2100" b="1" dirty="0">
                <a:latin typeface="Times New Roman" panose="02020603050405020304" pitchFamily="18" charset="0"/>
                <a:cs typeface="Times New Roman" panose="02020603050405020304" pitchFamily="18" charset="0"/>
              </a:rPr>
              <a:t>, B., &amp; Kani, T. V.</a:t>
            </a:r>
            <a:r>
              <a:rPr lang="en-IN" sz="2100" dirty="0">
                <a:latin typeface="Times New Roman" panose="02020603050405020304" pitchFamily="18" charset="0"/>
                <a:cs typeface="Times New Roman" panose="02020603050405020304" pitchFamily="18" charset="0"/>
              </a:rPr>
              <a:t> (2025). </a:t>
            </a:r>
            <a:r>
              <a:rPr lang="en-IN" sz="2100" i="1" dirty="0">
                <a:latin typeface="Times New Roman" panose="02020603050405020304" pitchFamily="18" charset="0"/>
                <a:cs typeface="Times New Roman" panose="02020603050405020304" pitchFamily="18" charset="0"/>
              </a:rPr>
              <a:t>AI Enhanced Surveillance for Identifying and Recognizing Crowd </a:t>
            </a:r>
            <a:r>
              <a:rPr lang="en-IN" sz="2100" i="1" dirty="0" err="1">
                <a:latin typeface="Times New Roman" panose="02020603050405020304" pitchFamily="18" charset="0"/>
                <a:cs typeface="Times New Roman" panose="02020603050405020304" pitchFamily="18" charset="0"/>
              </a:rPr>
              <a:t>Behavior</a:t>
            </a:r>
            <a:r>
              <a:rPr lang="en-IN" sz="2100" dirty="0">
                <a:latin typeface="Times New Roman" panose="02020603050405020304" pitchFamily="18" charset="0"/>
                <a:cs typeface="Times New Roman" panose="02020603050405020304" pitchFamily="18" charset="0"/>
              </a:rPr>
              <a:t> — discusses deep learning architectures (CNNs, RNNs, Transformers) applied in real-time crowd analysis and </a:t>
            </a:r>
            <a:r>
              <a:rPr lang="en-IN" sz="2100" dirty="0" err="1">
                <a:latin typeface="Times New Roman" panose="02020603050405020304" pitchFamily="18" charset="0"/>
                <a:cs typeface="Times New Roman" panose="02020603050405020304" pitchFamily="18" charset="0"/>
              </a:rPr>
              <a:t>behavior</a:t>
            </a:r>
            <a:r>
              <a:rPr lang="en-IN" sz="2100" dirty="0">
                <a:latin typeface="Times New Roman" panose="02020603050405020304" pitchFamily="18" charset="0"/>
                <a:cs typeface="Times New Roman" panose="02020603050405020304" pitchFamily="18" charset="0"/>
              </a:rPr>
              <a:t> recognition in video surveillance. </a:t>
            </a:r>
            <a:r>
              <a:rPr lang="en-IN" sz="2100" dirty="0">
                <a:latin typeface="Times New Roman" panose="02020603050405020304" pitchFamily="18" charset="0"/>
                <a:cs typeface="Times New Roman" panose="02020603050405020304" pitchFamily="18" charset="0"/>
                <a:hlinkClick r:id="rId3"/>
              </a:rPr>
              <a:t>IJRASET</a:t>
            </a:r>
            <a:endParaRPr lang="en-IN" sz="21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100" b="1" dirty="0">
                <a:latin typeface="Times New Roman" panose="02020603050405020304" pitchFamily="18" charset="0"/>
                <a:cs typeface="Times New Roman" panose="02020603050405020304" pitchFamily="18" charset="0"/>
              </a:rPr>
              <a:t>Behera, S., Dogra, D. P., Bandyopadhyay, M. K., &amp; Roy, P. P.</a:t>
            </a:r>
            <a:r>
              <a:rPr lang="en-IN" sz="2100" dirty="0">
                <a:latin typeface="Times New Roman" panose="02020603050405020304" pitchFamily="18" charset="0"/>
                <a:cs typeface="Times New Roman" panose="02020603050405020304" pitchFamily="18" charset="0"/>
              </a:rPr>
              <a:t> (2023). </a:t>
            </a:r>
            <a:r>
              <a:rPr lang="en-IN" sz="2100" i="1" dirty="0">
                <a:latin typeface="Times New Roman" panose="02020603050405020304" pitchFamily="18" charset="0"/>
                <a:cs typeface="Times New Roman" panose="02020603050405020304" pitchFamily="18" charset="0"/>
              </a:rPr>
              <a:t>Crowd Characterization in Surveillance Videos using Deep-Graph Convolutional Neural Network</a:t>
            </a:r>
            <a:r>
              <a:rPr lang="en-IN" sz="2100" dirty="0">
                <a:latin typeface="Times New Roman" panose="02020603050405020304" pitchFamily="18" charset="0"/>
                <a:cs typeface="Times New Roman" panose="02020603050405020304" pitchFamily="18" charset="0"/>
              </a:rPr>
              <a:t> — a 2023 IEEE article on crowd dynamics </a:t>
            </a:r>
            <a:r>
              <a:rPr lang="en-IN" sz="2100" dirty="0" err="1">
                <a:latin typeface="Times New Roman" panose="02020603050405020304" pitchFamily="18" charset="0"/>
                <a:cs typeface="Times New Roman" panose="02020603050405020304" pitchFamily="18" charset="0"/>
              </a:rPr>
              <a:t>modeling</a:t>
            </a:r>
            <a:r>
              <a:rPr lang="en-IN" sz="2100" dirty="0">
                <a:latin typeface="Times New Roman" panose="02020603050405020304" pitchFamily="18" charset="0"/>
                <a:cs typeface="Times New Roman" panose="02020603050405020304" pitchFamily="18" charset="0"/>
              </a:rPr>
              <a:t> and classification from motion patterns. </a:t>
            </a:r>
            <a:r>
              <a:rPr lang="en-IN" sz="2100" dirty="0">
                <a:latin typeface="Times New Roman" panose="02020603050405020304" pitchFamily="18" charset="0"/>
                <a:cs typeface="Times New Roman" panose="02020603050405020304" pitchFamily="18" charset="0"/>
                <a:hlinkClick r:id="rId4"/>
              </a:rPr>
              <a:t>PubMed</a:t>
            </a:r>
            <a:endParaRPr lang="en-IN" sz="21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100" b="1" dirty="0">
                <a:latin typeface="Times New Roman" panose="02020603050405020304" pitchFamily="18" charset="0"/>
                <a:cs typeface="Times New Roman" panose="02020603050405020304" pitchFamily="18" charset="0"/>
              </a:rPr>
              <a:t>Mallick, S. S., Das, I., Das, S., &amp; Karmakar, R.</a:t>
            </a:r>
            <a:r>
              <a:rPr lang="en-IN" sz="2100" dirty="0">
                <a:latin typeface="Times New Roman" panose="02020603050405020304" pitchFamily="18" charset="0"/>
                <a:cs typeface="Times New Roman" panose="02020603050405020304" pitchFamily="18" charset="0"/>
              </a:rPr>
              <a:t> (2024). </a:t>
            </a:r>
            <a:r>
              <a:rPr lang="en-IN" sz="2100" i="1" dirty="0">
                <a:latin typeface="Times New Roman" panose="02020603050405020304" pitchFamily="18" charset="0"/>
                <a:cs typeface="Times New Roman" panose="02020603050405020304" pitchFamily="18" charset="0"/>
              </a:rPr>
              <a:t>Intelligent Crowd Density and Motion Direction Estimation for Real-Time Crowd Dynamics</a:t>
            </a:r>
            <a:r>
              <a:rPr lang="en-IN" sz="2100" dirty="0">
                <a:latin typeface="Times New Roman" panose="02020603050405020304" pitchFamily="18" charset="0"/>
                <a:cs typeface="Times New Roman" panose="02020603050405020304" pitchFamily="18" charset="0"/>
              </a:rPr>
              <a:t> — explores YOLOv8 and optical flow for real-time analysis. </a:t>
            </a:r>
            <a:r>
              <a:rPr lang="en-IN" sz="2100" dirty="0" err="1">
                <a:latin typeface="Times New Roman" panose="02020603050405020304" pitchFamily="18" charset="0"/>
                <a:cs typeface="Times New Roman" panose="02020603050405020304" pitchFamily="18" charset="0"/>
                <a:hlinkClick r:id="rId5"/>
              </a:rPr>
              <a:t>EurekaMag</a:t>
            </a:r>
            <a:endParaRPr lang="en-IN" sz="21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100" b="1" dirty="0" err="1">
                <a:latin typeface="Times New Roman" panose="02020603050405020304" pitchFamily="18" charset="0"/>
                <a:cs typeface="Times New Roman" panose="02020603050405020304" pitchFamily="18" charset="0"/>
              </a:rPr>
              <a:t>Qaraqe</a:t>
            </a:r>
            <a:r>
              <a:rPr lang="en-IN" sz="2100" b="1" dirty="0">
                <a:latin typeface="Times New Roman" panose="02020603050405020304" pitchFamily="18" charset="0"/>
                <a:cs typeface="Times New Roman" panose="02020603050405020304" pitchFamily="18" charset="0"/>
              </a:rPr>
              <a:t>, M., Yang, Y. D., Varghese, E. B., Basaran, E., &amp; Elzein, A.</a:t>
            </a:r>
            <a:r>
              <a:rPr lang="en-IN" sz="2100" dirty="0">
                <a:latin typeface="Times New Roman" panose="02020603050405020304" pitchFamily="18" charset="0"/>
                <a:cs typeface="Times New Roman" panose="02020603050405020304" pitchFamily="18" charset="0"/>
              </a:rPr>
              <a:t> (2024). </a:t>
            </a:r>
            <a:r>
              <a:rPr lang="en-IN" sz="2100" i="1" dirty="0">
                <a:latin typeface="Times New Roman" panose="02020603050405020304" pitchFamily="18" charset="0"/>
                <a:cs typeface="Times New Roman" panose="02020603050405020304" pitchFamily="18" charset="0"/>
              </a:rPr>
              <a:t>Crowd </a:t>
            </a:r>
            <a:r>
              <a:rPr lang="en-IN" sz="2100" i="1" dirty="0" err="1">
                <a:latin typeface="Times New Roman" panose="02020603050405020304" pitchFamily="18" charset="0"/>
                <a:cs typeface="Times New Roman" panose="02020603050405020304" pitchFamily="18" charset="0"/>
              </a:rPr>
              <a:t>Behavior</a:t>
            </a:r>
            <a:r>
              <a:rPr lang="en-IN" sz="2100" i="1" dirty="0">
                <a:latin typeface="Times New Roman" panose="02020603050405020304" pitchFamily="18" charset="0"/>
                <a:cs typeface="Times New Roman" panose="02020603050405020304" pitchFamily="18" charset="0"/>
              </a:rPr>
              <a:t> Detection: Leveraging Video Swin Transformer for Crowd Size and Violence Level Analysis</a:t>
            </a:r>
            <a:r>
              <a:rPr lang="en-IN" sz="2100" dirty="0">
                <a:latin typeface="Times New Roman" panose="02020603050405020304" pitchFamily="18" charset="0"/>
                <a:cs typeface="Times New Roman" panose="02020603050405020304" pitchFamily="18" charset="0"/>
              </a:rPr>
              <a:t> — advanced transformer-based crowd </a:t>
            </a:r>
            <a:r>
              <a:rPr lang="en-IN" sz="2100" dirty="0" err="1">
                <a:latin typeface="Times New Roman" panose="02020603050405020304" pitchFamily="18" charset="0"/>
                <a:cs typeface="Times New Roman" panose="02020603050405020304" pitchFamily="18" charset="0"/>
              </a:rPr>
              <a:t>behavior</a:t>
            </a:r>
            <a:r>
              <a:rPr lang="en-IN" sz="2100" dirty="0">
                <a:latin typeface="Times New Roman" panose="02020603050405020304" pitchFamily="18" charset="0"/>
                <a:cs typeface="Times New Roman" panose="02020603050405020304" pitchFamily="18" charset="0"/>
              </a:rPr>
              <a:t> and violence detection. </a:t>
            </a:r>
            <a:r>
              <a:rPr lang="en-IN" sz="2100" dirty="0">
                <a:latin typeface="Times New Roman" panose="02020603050405020304" pitchFamily="18" charset="0"/>
                <a:cs typeface="Times New Roman" panose="02020603050405020304" pitchFamily="18" charset="0"/>
                <a:hlinkClick r:id="rId6"/>
              </a:rPr>
              <a:t>Springer</a:t>
            </a:r>
            <a:endParaRPr lang="en-IN" sz="21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100" b="1" dirty="0" err="1">
                <a:latin typeface="Times New Roman" panose="02020603050405020304" pitchFamily="18" charset="0"/>
                <a:cs typeface="Times New Roman" panose="02020603050405020304" pitchFamily="18" charset="0"/>
              </a:rPr>
              <a:t>Alhawsawi</a:t>
            </a:r>
            <a:r>
              <a:rPr lang="en-IN" sz="2100" b="1" dirty="0">
                <a:latin typeface="Times New Roman" panose="02020603050405020304" pitchFamily="18" charset="0"/>
                <a:cs typeface="Times New Roman" panose="02020603050405020304" pitchFamily="18" charset="0"/>
              </a:rPr>
              <a:t>, A. N., Khan, S. D., &amp; Ur Rehman, F.</a:t>
            </a:r>
            <a:r>
              <a:rPr lang="en-IN" sz="2100" dirty="0">
                <a:latin typeface="Times New Roman" panose="02020603050405020304" pitchFamily="18" charset="0"/>
                <a:cs typeface="Times New Roman" panose="02020603050405020304" pitchFamily="18" charset="0"/>
              </a:rPr>
              <a:t> (2024). </a:t>
            </a:r>
            <a:r>
              <a:rPr lang="en-IN" sz="2100" i="1" dirty="0">
                <a:latin typeface="Times New Roman" panose="02020603050405020304" pitchFamily="18" charset="0"/>
                <a:cs typeface="Times New Roman" panose="02020603050405020304" pitchFamily="18" charset="0"/>
              </a:rPr>
              <a:t>Crowd Counting in Diverse Environments Using a Deep Routing Mechanism Informed by Crowd Density Levels</a:t>
            </a:r>
            <a:r>
              <a:rPr lang="en-IN" sz="2100" dirty="0">
                <a:latin typeface="Times New Roman" panose="02020603050405020304" pitchFamily="18" charset="0"/>
                <a:cs typeface="Times New Roman" panose="02020603050405020304" pitchFamily="18" charset="0"/>
              </a:rPr>
              <a:t> — addresses crowd counting and varying conditions. </a:t>
            </a:r>
            <a:r>
              <a:rPr lang="en-IN" sz="2100" dirty="0">
                <a:latin typeface="Times New Roman" panose="02020603050405020304" pitchFamily="18" charset="0"/>
                <a:cs typeface="Times New Roman" panose="02020603050405020304" pitchFamily="18" charset="0"/>
                <a:hlinkClick r:id="rId7"/>
              </a:rPr>
              <a:t>MDPI</a:t>
            </a:r>
            <a:endParaRPr lang="en-IN" sz="21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8" cstate="print"/>
          <a:stretch>
            <a:fillRect/>
          </a:stretch>
        </p:blipFill>
        <p:spPr>
          <a:xfrm>
            <a:off x="357352" y="191643"/>
            <a:ext cx="1103582" cy="1342897"/>
          </a:xfrm>
          <a:prstGeom prst="rect">
            <a:avLst/>
          </a:prstGeom>
        </p:spPr>
      </p:pic>
      <p:pic>
        <p:nvPicPr>
          <p:cNvPr id="5" name="object 5"/>
          <p:cNvPicPr/>
          <p:nvPr/>
        </p:nvPicPr>
        <p:blipFill>
          <a:blip r:embed="rId9" cstate="print"/>
          <a:stretch>
            <a:fillRect/>
          </a:stretch>
        </p:blipFill>
        <p:spPr>
          <a:xfrm>
            <a:off x="10514203" y="191643"/>
            <a:ext cx="1520062" cy="134289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2438400"/>
            <a:ext cx="9448800" cy="1783180"/>
          </a:xfrm>
          <a:prstGeom prst="rect">
            <a:avLst/>
          </a:prstGeom>
        </p:spPr>
        <p:txBody>
          <a:bodyPr vert="horz" wrap="square" lIns="0" tIns="13335" rIns="0" bIns="0" rtlCol="0">
            <a:spAutoFit/>
          </a:bodyPr>
          <a:lstStyle/>
          <a:p>
            <a:pPr marL="12700">
              <a:lnSpc>
                <a:spcPct val="100000"/>
              </a:lnSpc>
              <a:spcBef>
                <a:spcPts val="105"/>
              </a:spcBef>
            </a:pPr>
            <a:r>
              <a:rPr sz="11500" dirty="0">
                <a:latin typeface="Algerian" panose="04020705040A02060702" pitchFamily="82" charset="0"/>
                <a:cs typeface="Times New Roman" panose="02020603050405020304" pitchFamily="18" charset="0"/>
              </a:rPr>
              <a:t>Thank</a:t>
            </a:r>
            <a:r>
              <a:rPr sz="11500" spc="-100" dirty="0">
                <a:latin typeface="Algerian" panose="04020705040A02060702" pitchFamily="82" charset="0"/>
                <a:cs typeface="Times New Roman" panose="02020603050405020304" pitchFamily="18" charset="0"/>
              </a:rPr>
              <a:t> </a:t>
            </a:r>
            <a:r>
              <a:rPr sz="11500" spc="-50" dirty="0">
                <a:latin typeface="Algerian" panose="04020705040A02060702" pitchFamily="82" charset="0"/>
                <a:cs typeface="Times New Roman" panose="02020603050405020304" pitchFamily="18" charset="0"/>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1042</TotalTime>
  <Words>1108</Words>
  <Application>Microsoft Office PowerPoint</Application>
  <PresentationFormat>Widescreen</PresentationFormat>
  <Paragraphs>103</Paragraphs>
  <Slides>17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Algerian</vt:lpstr>
      <vt:lpstr>Arial</vt:lpstr>
      <vt:lpstr>Calibri</vt:lpstr>
      <vt:lpstr>Times New Roman</vt:lpstr>
      <vt:lpstr>Wingdings</vt:lpstr>
      <vt:lpstr>Office Theme</vt:lpstr>
      <vt:lpstr>PowerPoint Presentation</vt:lpstr>
      <vt:lpstr>INTRODUCTION</vt:lpstr>
      <vt:lpstr>OBJECTIVES</vt:lpstr>
      <vt:lpstr>PowerPoint Presentation</vt:lpstr>
      <vt:lpstr>PowerPoint Presentation</vt:lpstr>
      <vt:lpstr>PowerPoint Presentation</vt:lpstr>
      <vt:lpstr>MODULE 2:  VISION-BASED CROWD DENSITY MEASUREMENT IN SURVEILLANCE VIDEOS</vt:lpstr>
      <vt:lpstr>MODULE 3:  REAL-TIME CROWD SPEED ESTIMATION AND MOTION ANALYSIS</vt:lpstr>
      <vt:lpstr>MODULE 4:  CROWD FLOW DIRECTION AND MOVEMENT PATTERN ANALYSIS </vt:lpstr>
      <vt:lpstr>IMPLEMENTATION MODULE 1-PERSON DETECTION</vt:lpstr>
      <vt:lpstr>MODULE 2-DENSITY DETECTION</vt:lpstr>
      <vt:lpstr>MODULE 3-SPEED DETECTION</vt:lpstr>
      <vt:lpstr>MODULE 4-ANOMOLY DETECTION</vt:lpstr>
      <vt:lpstr>FINAL OUTPUT</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Title</dc:title>
  <dc:creator>sankar</dc:creator>
  <cp:lastModifiedBy>Hashini Sathish</cp:lastModifiedBy>
  <cp:revision>63</cp:revision>
  <dcterms:created xsi:type="dcterms:W3CDTF">2025-02-25T03:46:00Z</dcterms:created>
  <dcterms:modified xsi:type="dcterms:W3CDTF">2026-08-27T09:01:16Z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2025-02-24T11:00:00Z</vt:filetime>
  </property>
  <property fmtid="{D5CDD505-2E9C-101B-9397-08002B2CF9AE}" pid="3" name="Creator">
    <vt:lpwstr>Microsoft® PowerPoint® 2019</vt:lpwstr>
  </property>
  <property fmtid="{D5CDD505-2E9C-101B-9397-08002B2CF9AE}" pid="4" name="LastSaved">
    <vt:filetime>2025-02-25T11:00:00Z</vt:filetime>
  </property>
  <property fmtid="{D5CDD505-2E9C-101B-9397-08002B2CF9AE}" pid="5" name="Producer">
    <vt:lpwstr>Microsoft® PowerPoint® 2019</vt:lpwstr>
  </property>
  <property fmtid="{D5CDD505-2E9C-101B-9397-08002B2CF9AE}" pid="6" name="ICV">
    <vt:lpwstr>D155478E706B4F46AA8A05F52806202A_12</vt:lpwstr>
  </property>
  <property fmtid="{D5CDD505-2E9C-101B-9397-08002B2CF9AE}" pid="7" name="KSOProductBuildVer">
    <vt:lpwstr>1033-12.2.0.20323</vt:lpwstr>
  </property>
</Properties>
</file>